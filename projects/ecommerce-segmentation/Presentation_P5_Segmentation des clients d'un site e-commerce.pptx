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8" r:id="rId12"/>
    <p:sldId id="267" r:id="rId13"/>
    <p:sldId id="266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2" autoAdjust="0"/>
    <p:restoredTop sz="94660"/>
  </p:normalViewPr>
  <p:slideViewPr>
    <p:cSldViewPr snapToGrid="0">
      <p:cViewPr varScale="1">
        <p:scale>
          <a:sx n="65" d="100"/>
          <a:sy n="65" d="100"/>
        </p:scale>
        <p:origin x="68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7D9F3-E5E1-4D09-B5DE-D6CB56A9264E}" type="datetimeFigureOut">
              <a:rPr lang="fr-FR" smtClean="0"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E9522-4457-4D8D-A9A9-95456EED33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460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7D9F3-E5E1-4D09-B5DE-D6CB56A9264E}" type="datetimeFigureOut">
              <a:rPr lang="fr-FR" smtClean="0"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E9522-4457-4D8D-A9A9-95456EED33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31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7D9F3-E5E1-4D09-B5DE-D6CB56A9264E}" type="datetimeFigureOut">
              <a:rPr lang="fr-FR" smtClean="0"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E9522-4457-4D8D-A9A9-95456EED33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3865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7D9F3-E5E1-4D09-B5DE-D6CB56A9264E}" type="datetimeFigureOut">
              <a:rPr lang="fr-FR" smtClean="0"/>
              <a:t>29/09/2023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E9522-4457-4D8D-A9A9-95456EED33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3121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7D9F3-E5E1-4D09-B5DE-D6CB56A9264E}" type="datetimeFigureOut">
              <a:rPr lang="fr-FR" smtClean="0"/>
              <a:t>29/09/2023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E9522-4457-4D8D-A9A9-95456EED33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90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7D9F3-E5E1-4D09-B5DE-D6CB56A9264E}" type="datetimeFigureOut">
              <a:rPr lang="fr-FR" smtClean="0"/>
              <a:t>29/09/2023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E9522-4457-4D8D-A9A9-95456EED33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2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7D9F3-E5E1-4D09-B5DE-D6CB56A9264E}" type="datetimeFigureOut">
              <a:rPr lang="fr-FR" smtClean="0"/>
              <a:t>29/09/2023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E9522-4457-4D8D-A9A9-95456EED33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360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7D9F3-E5E1-4D09-B5DE-D6CB56A9264E}" type="datetimeFigureOut">
              <a:rPr lang="fr-FR" smtClean="0"/>
              <a:t>29/09/2023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E9522-4457-4D8D-A9A9-95456EED33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144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7D9F3-E5E1-4D09-B5DE-D6CB56A9264E}" type="datetimeFigureOut">
              <a:rPr lang="fr-FR" smtClean="0"/>
              <a:t>29/09/2023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E9522-4457-4D8D-A9A9-95456EED33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0826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7D9F3-E5E1-4D09-B5DE-D6CB56A9264E}" type="datetimeFigureOut">
              <a:rPr lang="fr-FR" smtClean="0"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E9522-4457-4D8D-A9A9-95456EED33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2978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7D9F3-E5E1-4D09-B5DE-D6CB56A9264E}" type="datetimeFigureOut">
              <a:rPr lang="fr-FR" smtClean="0"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E9522-4457-4D8D-A9A9-95456EED33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9123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7D9F3-E5E1-4D09-B5DE-D6CB56A9264E}" type="datetimeFigureOut">
              <a:rPr lang="fr-FR" smtClean="0"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E9522-4457-4D8D-A9A9-95456EED33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6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Light SemiConde" panose="020B0502040204020203" pitchFamily="34" charset="0"/>
              </a:rPr>
              <a:t>Présentation P5</a:t>
            </a:r>
            <a:endParaRPr lang="fr-FR" b="1" dirty="0">
              <a:solidFill>
                <a:schemeClr val="accent2">
                  <a:lumMod val="50000"/>
                </a:schemeClr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4024825"/>
            <a:ext cx="9144000" cy="566840"/>
          </a:xfrm>
        </p:spPr>
        <p:txBody>
          <a:bodyPr/>
          <a:lstStyle/>
          <a:p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Light SemiConde" panose="020B0502040204020203" pitchFamily="34" charset="0"/>
              </a:rPr>
              <a:t>SEGMENTATION DES CLIENTS D’UN SITE E-COMMERCE</a:t>
            </a:r>
            <a:endParaRPr lang="fr-FR" b="1" dirty="0">
              <a:solidFill>
                <a:schemeClr val="accent2">
                  <a:lumMod val="50000"/>
                </a:schemeClr>
              </a:solidFill>
              <a:latin typeface="Bahnschrift SemiLight SemiCond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Introduction	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49710" y="1530658"/>
            <a:ext cx="10515600" cy="5253600"/>
          </a:xfrm>
        </p:spPr>
        <p:txBody>
          <a:bodyPr>
            <a:noAutofit/>
          </a:bodyPr>
          <a:lstStyle/>
          <a:p>
            <a:endParaRPr lang="fr-FR" sz="2400" b="1" dirty="0" smtClean="0">
              <a:solidFill>
                <a:schemeClr val="accent2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  <a:p>
            <a:endParaRPr lang="fr-FR" sz="2400" b="1" dirty="0">
              <a:solidFill>
                <a:schemeClr val="accent2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  <a:p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Ce projet, fait l’objet d’une classification des clients d’un site E-commerce avec la technique de </a:t>
            </a: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clustering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K-</a:t>
            </a: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means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. </a:t>
            </a:r>
          </a:p>
          <a:p>
            <a:pPr marL="0" indent="0">
              <a:buNone/>
            </a:pPr>
            <a:endParaRPr lang="fr-FR" sz="2400" b="1" dirty="0">
              <a:solidFill>
                <a:schemeClr val="accent2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  <a:p>
            <a:pPr marL="0" indent="0">
              <a:buNone/>
            </a:pPr>
            <a:endParaRPr lang="fr-FR" sz="2400" b="1" dirty="0" smtClean="0">
              <a:solidFill>
                <a:schemeClr val="accent2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  <a:p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Nous avons plusieurs jeux de données provenant du </a:t>
            </a: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kaggle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, qui fournit des informations sur les transactions des clients du site commercial </a:t>
            </a: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bresilien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OLIST. </a:t>
            </a:r>
          </a:p>
        </p:txBody>
      </p:sp>
    </p:spTree>
    <p:extLst>
      <p:ext uri="{BB962C8B-B14F-4D97-AF65-F5344CB8AC3E}">
        <p14:creationId xmlns:p14="http://schemas.microsoft.com/office/powerpoint/2010/main" val="701793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Présentation des différents </a:t>
            </a:r>
            <a:r>
              <a:rPr lang="fr-FR" dirty="0" err="1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datasets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0885" y="1690688"/>
            <a:ext cx="10515600" cy="5440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Customers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 : </a:t>
            </a:r>
            <a:r>
              <a:rPr lang="fr-FR" sz="2000" dirty="0">
                <a:latin typeface="Bahnschrift Light SemiCondensed" panose="020B0502040204020203" pitchFamily="34" charset="0"/>
              </a:rPr>
              <a:t>Renseignements sur les clients</a:t>
            </a:r>
          </a:p>
          <a:p>
            <a:pPr marL="0" indent="0">
              <a:buNone/>
            </a:pP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order_items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: </a:t>
            </a:r>
            <a:r>
              <a:rPr lang="fr-FR" sz="2000" dirty="0">
                <a:latin typeface="Bahnschrift Light SemiCondensed" panose="020B0502040204020203" pitchFamily="34" charset="0"/>
              </a:rPr>
              <a:t>Renseignements sur les articles</a:t>
            </a:r>
          </a:p>
          <a:p>
            <a:pPr marL="0" indent="0">
              <a:buNone/>
            </a:pP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order_payments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: </a:t>
            </a:r>
            <a:r>
              <a:rPr lang="fr-FR" sz="2000" dirty="0">
                <a:latin typeface="Bahnschrift Light SemiCondensed" panose="020B0502040204020203" pitchFamily="34" charset="0"/>
              </a:rPr>
              <a:t>Renseignements sur les types de paiement</a:t>
            </a:r>
          </a:p>
          <a:p>
            <a:pPr marL="0" indent="0">
              <a:buNone/>
            </a:pP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order_reviews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: </a:t>
            </a:r>
            <a:r>
              <a:rPr lang="fr-FR" sz="2000" dirty="0">
                <a:latin typeface="Bahnschrift Light SemiCondensed" panose="020B0502040204020203" pitchFamily="34" charset="0"/>
              </a:rPr>
              <a:t>Les commentaires &amp; appréciations</a:t>
            </a:r>
          </a:p>
          <a:p>
            <a:pPr marL="0" indent="0">
              <a:buNone/>
            </a:pP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orders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; </a:t>
            </a:r>
            <a:r>
              <a:rPr lang="fr-FR" sz="2000" dirty="0">
                <a:latin typeface="Bahnschrift Light SemiCondensed" panose="020B0502040204020203" pitchFamily="34" charset="0"/>
              </a:rPr>
              <a:t>Détails des types de commandes</a:t>
            </a:r>
          </a:p>
          <a:p>
            <a:pPr marL="0" indent="0">
              <a:buNone/>
            </a:pP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products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: </a:t>
            </a:r>
            <a:r>
              <a:rPr lang="fr-FR" sz="2000" dirty="0">
                <a:latin typeface="Bahnschrift Light SemiCondensed" panose="020B0502040204020203" pitchFamily="34" charset="0"/>
              </a:rPr>
              <a:t>Renseignements sur les produits</a:t>
            </a:r>
          </a:p>
          <a:p>
            <a:pPr marL="0" indent="0">
              <a:buNone/>
            </a:pP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product_category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:  </a:t>
            </a:r>
            <a:r>
              <a:rPr lang="fr-FR" sz="2000" dirty="0">
                <a:latin typeface="Bahnschrift Light SemiCondensed" panose="020B0502040204020203" pitchFamily="34" charset="0"/>
              </a:rPr>
              <a:t>Table </a:t>
            </a:r>
            <a:r>
              <a:rPr lang="fr-FR" sz="2000" dirty="0" err="1">
                <a:latin typeface="Bahnschrift Light SemiCondensed" panose="020B0502040204020203" pitchFamily="34" charset="0"/>
              </a:rPr>
              <a:t>mapping</a:t>
            </a:r>
            <a:r>
              <a:rPr lang="fr-FR" sz="2000" dirty="0">
                <a:latin typeface="Bahnschrift Light SemiCondensed" panose="020B0502040204020203" pitchFamily="34" charset="0"/>
              </a:rPr>
              <a:t> des catégories de produit</a:t>
            </a:r>
            <a:r>
              <a:rPr lang="fr-FR" sz="2000" dirty="0" smtClean="0">
                <a:latin typeface="Bahnschrift Light SemiCondensed" panose="020B0502040204020203" pitchFamily="34" charset="0"/>
              </a:rPr>
              <a:t>.</a:t>
            </a:r>
          </a:p>
          <a:p>
            <a:pPr marL="0" indent="0">
              <a:buNone/>
            </a:pPr>
            <a:endParaRPr lang="fr-FR" dirty="0">
              <a:latin typeface="Bahnschrift Light SemiCondensed" panose="020B0502040204020203" pitchFamily="34" charset="0"/>
            </a:endParaRPr>
          </a:p>
          <a:p>
            <a:pPr marL="0" indent="0">
              <a:buNone/>
            </a:pPr>
            <a:r>
              <a:rPr lang="fr-FR" dirty="0" smtClean="0">
                <a:latin typeface="Bahnschrift Light SemiCondensed" panose="020B0502040204020203" pitchFamily="34" charset="0"/>
              </a:rPr>
              <a:t>Ce projet est traité sous trois volets : </a:t>
            </a: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Traitement &amp; analyse des données, </a:t>
            </a:r>
            <a:r>
              <a:rPr lang="fr-FR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Clustering</a:t>
            </a: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via </a:t>
            </a:r>
            <a:r>
              <a:rPr lang="fr-FR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K’means</a:t>
            </a: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&amp; Contrat de Maintenance.</a:t>
            </a:r>
            <a:endParaRPr lang="fr-FR" b="1" dirty="0">
              <a:solidFill>
                <a:schemeClr val="accent2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897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7542"/>
          </a:xfrm>
        </p:spPr>
        <p:txBody>
          <a:bodyPr/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I- Traitement &amp; </a:t>
            </a: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Analyse exploratoire</a:t>
            </a:r>
            <a:endParaRPr lang="fr-FR" b="1" dirty="0">
              <a:solidFill>
                <a:schemeClr val="accent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19146"/>
            <a:ext cx="10515600" cy="5032375"/>
          </a:xfrm>
        </p:spPr>
        <p:txBody>
          <a:bodyPr>
            <a:normAutofit/>
          </a:bodyPr>
          <a:lstStyle/>
          <a:p>
            <a:r>
              <a:rPr lang="fr-FR" sz="2000" dirty="0" smtClean="0"/>
              <a:t>Dans cette étape, chaque table est traitée et explorée séparément. </a:t>
            </a:r>
          </a:p>
          <a:p>
            <a:pPr>
              <a:buFontTx/>
              <a:buChar char="-"/>
            </a:pPr>
            <a:r>
              <a:rPr lang="fr-FR" sz="2000" dirty="0" smtClean="0"/>
              <a:t>Gestion des doublons</a:t>
            </a:r>
          </a:p>
          <a:p>
            <a:pPr>
              <a:buFontTx/>
              <a:buChar char="-"/>
            </a:pPr>
            <a:r>
              <a:rPr lang="fr-FR" sz="2000" dirty="0" smtClean="0"/>
              <a:t>Traitement des missings values</a:t>
            </a:r>
          </a:p>
          <a:p>
            <a:pPr>
              <a:buFontTx/>
              <a:buChar char="-"/>
            </a:pPr>
            <a:r>
              <a:rPr lang="fr-FR" sz="2000" dirty="0" smtClean="0"/>
              <a:t>Les lignes pour lesquelles toutes les </a:t>
            </a:r>
            <a:r>
              <a:rPr lang="fr-FR" sz="2000" dirty="0" err="1" smtClean="0"/>
              <a:t>obs</a:t>
            </a:r>
            <a:r>
              <a:rPr lang="fr-FR" sz="2000" dirty="0" smtClean="0"/>
              <a:t> sont quasiment nulles ont été supprimées.</a:t>
            </a:r>
          </a:p>
          <a:p>
            <a:pPr>
              <a:buFontTx/>
              <a:buChar char="-"/>
            </a:pPr>
            <a:r>
              <a:rPr lang="fr-FR" sz="2000" dirty="0" smtClean="0"/>
              <a:t>Dans la table reviews,  focus sur les commandes </a:t>
            </a:r>
            <a:r>
              <a:rPr lang="fr-FR" sz="2000" b="1" i="1" dirty="0" smtClean="0">
                <a:solidFill>
                  <a:schemeClr val="accent2">
                    <a:lumMod val="50000"/>
                  </a:schemeClr>
                </a:solidFill>
              </a:rPr>
              <a:t>délivrées. </a:t>
            </a:r>
          </a:p>
          <a:p>
            <a:pPr>
              <a:buFontTx/>
              <a:buChar char="-"/>
            </a:pPr>
            <a:r>
              <a:rPr lang="fr-FR" sz="2000" b="1" i="1" dirty="0" smtClean="0">
                <a:solidFill>
                  <a:schemeClr val="accent2">
                    <a:lumMod val="50000"/>
                  </a:schemeClr>
                </a:solidFill>
              </a:rPr>
              <a:t>En ce qui concerne les date de commande: </a:t>
            </a:r>
          </a:p>
          <a:p>
            <a:pPr marL="0" indent="0">
              <a:buNone/>
            </a:pPr>
            <a:endParaRPr lang="fr-FR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4228739"/>
            <a:ext cx="8357420" cy="262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9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I- Traitement &amp; Analyse exploratoire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latin typeface="Bahnschrift Light SemiCondensed" panose="020B0502040204020203" pitchFamily="34" charset="0"/>
              </a:rPr>
              <a:t>La plupart des payements sont effectués via </a:t>
            </a:r>
            <a:r>
              <a:rPr lang="fr-FR" b="1" dirty="0" err="1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credit_card</a:t>
            </a: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; </a:t>
            </a:r>
          </a:p>
          <a:p>
            <a:pPr marL="0" indent="0">
              <a:buNone/>
            </a:pPr>
            <a:endParaRPr lang="fr-FR" b="1" dirty="0" smtClean="0">
              <a:solidFill>
                <a:schemeClr val="accent2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  <a:p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Les produits les plus vendus sont : </a:t>
            </a:r>
            <a:r>
              <a:rPr lang="fr-FR" dirty="0" err="1">
                <a:latin typeface="Bahnschrift Light SemiCondensed" panose="020B0502040204020203" pitchFamily="34" charset="0"/>
              </a:rPr>
              <a:t>cama_mesa_banho</a:t>
            </a:r>
            <a:r>
              <a:rPr lang="fr-FR" dirty="0">
                <a:latin typeface="Bahnschrift Light SemiCondensed" panose="020B0502040204020203" pitchFamily="34" charset="0"/>
              </a:rPr>
              <a:t>, </a:t>
            </a:r>
            <a:r>
              <a:rPr lang="fr-FR" dirty="0" err="1" smtClean="0">
                <a:latin typeface="Bahnschrift Light SemiCondensed" panose="020B0502040204020203" pitchFamily="34" charset="0"/>
              </a:rPr>
              <a:t>esporte_lazer</a:t>
            </a:r>
            <a:r>
              <a:rPr lang="fr-FR" dirty="0" smtClean="0">
                <a:latin typeface="Bahnschrift Light SemiCondensed" panose="020B0502040204020203" pitchFamily="34" charset="0"/>
              </a:rPr>
              <a:t>. </a:t>
            </a:r>
            <a:endParaRPr lang="fr-FR" dirty="0">
              <a:latin typeface="Bahnschrift Light SemiCondensed" panose="020B0502040204020203" pitchFamily="34" charset="0"/>
            </a:endParaRPr>
          </a:p>
        </p:txBody>
      </p:sp>
      <p:pic>
        <p:nvPicPr>
          <p:cNvPr id="7" name="Espace réservé du contenu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4" y="4129549"/>
            <a:ext cx="4286864" cy="265962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064" y="4129550"/>
            <a:ext cx="6703142" cy="252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97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I- Traitement &amp; Analyse exploratoire</a:t>
            </a:r>
            <a:b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fr-FR" sz="2800" b="1" dirty="0" err="1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Merge</a:t>
            </a:r>
            <a:r>
              <a:rPr lang="fr-FR" sz="2800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des </a:t>
            </a:r>
            <a:r>
              <a:rPr lang="fr-FR" sz="2800" b="1" dirty="0" err="1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datasets</a:t>
            </a:r>
            <a:r>
              <a:rPr lang="fr-FR" sz="2800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&amp; features d’agrégation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8633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fr-FR" dirty="0" smtClean="0"/>
              <a:t> Jointure </a:t>
            </a:r>
            <a:r>
              <a:rPr lang="fr-FR" dirty="0" err="1" smtClean="0"/>
              <a:t>séquencielle</a:t>
            </a:r>
            <a:r>
              <a:rPr lang="fr-FR" dirty="0" smtClean="0"/>
              <a:t> des 7 tables avec la </a:t>
            </a:r>
            <a:r>
              <a:rPr lang="fr-FR" dirty="0" err="1" smtClean="0"/>
              <a:t>methode</a:t>
            </a:r>
            <a:r>
              <a:rPr lang="fr-FR" dirty="0" smtClean="0"/>
              <a:t> </a:t>
            </a:r>
            <a:r>
              <a:rPr lang="fr-FR" b="1" i="1" dirty="0" err="1" smtClean="0">
                <a:solidFill>
                  <a:schemeClr val="accent2">
                    <a:lumMod val="50000"/>
                  </a:schemeClr>
                </a:solidFill>
              </a:rPr>
              <a:t>merge</a:t>
            </a:r>
            <a:r>
              <a:rPr lang="fr-FR" b="1" i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b="1" i="1" dirty="0" smtClean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fr-FR" b="1" i="1" dirty="0" err="1" smtClean="0">
                <a:solidFill>
                  <a:schemeClr val="accent2">
                    <a:lumMod val="50000"/>
                  </a:schemeClr>
                </a:solidFill>
              </a:rPr>
              <a:t>data_final</a:t>
            </a:r>
            <a:r>
              <a:rPr lang="fr-FR" b="1" i="1" dirty="0" smtClean="0">
                <a:solidFill>
                  <a:schemeClr val="accent2">
                    <a:lumMod val="50000"/>
                  </a:schemeClr>
                </a:solidFill>
              </a:rPr>
              <a:t>).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i="1" dirty="0" err="1" smtClean="0">
                <a:solidFill>
                  <a:schemeClr val="accent2">
                    <a:lumMod val="50000"/>
                  </a:schemeClr>
                </a:solidFill>
              </a:rPr>
              <a:t>duration_deliv</a:t>
            </a:r>
            <a:r>
              <a:rPr lang="fr-FR" i="1" dirty="0" smtClean="0">
                <a:solidFill>
                  <a:schemeClr val="accent2">
                    <a:lumMod val="50000"/>
                  </a:schemeClr>
                </a:solidFill>
              </a:rPr>
              <a:t> : </a:t>
            </a:r>
            <a:r>
              <a:rPr lang="fr-FR" dirty="0"/>
              <a:t>la durée en jrs de la livraison du </a:t>
            </a:r>
            <a:r>
              <a:rPr lang="fr-FR" dirty="0" smtClean="0"/>
              <a:t>produit;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 err="1" smtClean="0">
                <a:solidFill>
                  <a:schemeClr val="accent2">
                    <a:lumMod val="50000"/>
                  </a:schemeClr>
                </a:solidFill>
              </a:rPr>
              <a:t>max_date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</a:rPr>
              <a:t> : </a:t>
            </a:r>
            <a:r>
              <a:rPr lang="fr-FR" dirty="0"/>
              <a:t>la date de la dernière </a:t>
            </a:r>
            <a:r>
              <a:rPr lang="fr-FR" dirty="0" smtClean="0"/>
              <a:t>commande;</a:t>
            </a:r>
            <a:endParaRPr lang="fr-FR" dirty="0"/>
          </a:p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dirty="0" err="1" smtClean="0">
                <a:solidFill>
                  <a:schemeClr val="accent2">
                    <a:lumMod val="50000"/>
                  </a:schemeClr>
                </a:solidFill>
              </a:rPr>
              <a:t>Date_recency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</a:rPr>
              <a:t> : </a:t>
            </a:r>
            <a:r>
              <a:rPr lang="fr-FR" dirty="0" smtClean="0"/>
              <a:t>Durée en jour entre date commande et la dernière commande;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 err="1" smtClean="0">
                <a:solidFill>
                  <a:schemeClr val="accent2">
                    <a:lumMod val="50000"/>
                  </a:schemeClr>
                </a:solidFill>
              </a:rPr>
              <a:t>Monetary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</a:rPr>
              <a:t> : </a:t>
            </a:r>
            <a:r>
              <a:rPr lang="fr-FR" dirty="0"/>
              <a:t>Le montant total acheté 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dirty="0" err="1" smtClean="0">
                <a:solidFill>
                  <a:schemeClr val="accent2">
                    <a:lumMod val="50000"/>
                  </a:schemeClr>
                </a:solidFill>
              </a:rPr>
              <a:t>frequency</a:t>
            </a: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</a:rPr>
              <a:t>: </a:t>
            </a:r>
            <a:r>
              <a:rPr lang="fr-FR" dirty="0"/>
              <a:t>Le nombre de commande </a:t>
            </a:r>
            <a:r>
              <a:rPr lang="fr-FR" dirty="0" err="1"/>
              <a:t>efféctués</a:t>
            </a:r>
            <a:endParaRPr lang="fr-FR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dirty="0" err="1" smtClean="0">
                <a:solidFill>
                  <a:schemeClr val="accent2">
                    <a:lumMod val="50000"/>
                  </a:schemeClr>
                </a:solidFill>
              </a:rPr>
              <a:t>review_score_mean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</a:rPr>
              <a:t> : </a:t>
            </a:r>
            <a:r>
              <a:rPr lang="fr-FR" dirty="0"/>
              <a:t>Le score moyen (appréciations);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dirty="0" err="1" smtClean="0">
                <a:solidFill>
                  <a:schemeClr val="accent2">
                    <a:lumMod val="50000"/>
                  </a:schemeClr>
                </a:solidFill>
              </a:rPr>
              <a:t>product_w_mean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</a:rPr>
              <a:t> : </a:t>
            </a:r>
            <a:r>
              <a:rPr lang="fr-FR" dirty="0"/>
              <a:t>Le poids moyen des produits acheté;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dirty="0" err="1" smtClean="0">
                <a:solidFill>
                  <a:schemeClr val="accent2">
                    <a:lumMod val="50000"/>
                  </a:schemeClr>
                </a:solidFill>
              </a:rPr>
              <a:t>Recency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</a:rPr>
              <a:t> : </a:t>
            </a:r>
            <a:r>
              <a:rPr lang="fr-FR" dirty="0"/>
              <a:t>le nombre de jour depuis la dernière commande;</a:t>
            </a:r>
          </a:p>
          <a:p>
            <a:pPr>
              <a:buFont typeface="Wingdings" panose="05000000000000000000" pitchFamily="2" charset="2"/>
              <a:buChar char="ü"/>
            </a:pPr>
            <a:endParaRPr lang="fr-FR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endParaRPr lang="fr-FR" dirty="0" smtClean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8669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I- Traitement &amp; Analyse exploratoire</a:t>
            </a:r>
            <a:b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fr-FR" sz="2400" b="1" dirty="0" err="1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Merge</a:t>
            </a:r>
            <a:r>
              <a:rPr lang="fr-FR" sz="2400" b="1" dirty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des </a:t>
            </a:r>
            <a:r>
              <a:rPr lang="fr-FR" sz="2400" b="1" dirty="0" err="1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datasets</a:t>
            </a:r>
            <a:r>
              <a:rPr lang="fr-FR" sz="2400" b="1" dirty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&amp; features d’agrégation</a:t>
            </a:r>
            <a:endParaRPr lang="fr-FR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4968" y="1825625"/>
            <a:ext cx="11058832" cy="4351338"/>
          </a:xfrm>
        </p:spPr>
        <p:txBody>
          <a:bodyPr/>
          <a:lstStyle/>
          <a:p>
            <a:r>
              <a:rPr lang="fr-FR" dirty="0" smtClean="0"/>
              <a:t>Extrait de la table agrégée des features : 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5" y="2875986"/>
            <a:ext cx="10288536" cy="343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33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I- Traitement &amp; Analyse exploratoire</a:t>
            </a:r>
            <a:b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fr-FR" sz="2800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Analyse </a:t>
            </a:r>
            <a:r>
              <a:rPr lang="fr-FR" sz="2800" b="1" dirty="0" err="1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exploiratoire</a:t>
            </a:r>
            <a:r>
              <a:rPr lang="fr-FR" sz="2800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de la table agrégée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491329"/>
            <a:ext cx="10515600" cy="4351338"/>
          </a:xfrm>
        </p:spPr>
        <p:txBody>
          <a:bodyPr>
            <a:normAutofit/>
          </a:bodyPr>
          <a:lstStyle/>
          <a:p>
            <a:r>
              <a:rPr lang="fr-FR" sz="2000" b="1" dirty="0" smtClean="0">
                <a:latin typeface="Bahnschrift Light SemiCondensed" panose="020B0502040204020203" pitchFamily="34" charset="0"/>
              </a:rPr>
              <a:t>IL n'y a pas de fortes corrélations entre les variables agrégées</a:t>
            </a:r>
          </a:p>
          <a:p>
            <a:endParaRPr lang="fr-FR" sz="2000" dirty="0"/>
          </a:p>
          <a:p>
            <a:pPr marL="0" indent="0">
              <a:buNone/>
            </a:pPr>
            <a:endParaRPr lang="fr-FR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8" y="1799303"/>
            <a:ext cx="11297265" cy="234007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48" y="4240878"/>
            <a:ext cx="10795820" cy="261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835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II- </a:t>
            </a:r>
            <a:r>
              <a:rPr lang="fr-FR" b="1" dirty="0" err="1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Kmeans</a:t>
            </a: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/>
            </a:r>
            <a:b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kmeans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- RFM</a:t>
            </a:r>
            <a:endParaRPr lang="fr-FR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fr-FR" dirty="0" smtClean="0">
                <a:latin typeface="Bahnschrift Light Condensed" panose="020B0502040204020203" pitchFamily="34" charset="0"/>
              </a:rPr>
              <a:t>Normaliser les données avec : </a:t>
            </a:r>
            <a:r>
              <a:rPr lang="fr-FR" i="1" dirty="0" err="1" smtClean="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MinMaxScaler</a:t>
            </a:r>
            <a:r>
              <a:rPr lang="fr-FR" i="1" dirty="0" smtClean="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() ;</a:t>
            </a:r>
          </a:p>
          <a:p>
            <a:pPr marL="0" indent="0">
              <a:buNone/>
            </a:pPr>
            <a:endParaRPr lang="fr-FR" i="1" dirty="0" smtClean="0">
              <a:solidFill>
                <a:schemeClr val="accent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  <a:p>
            <a:r>
              <a:rPr lang="fr-FR" dirty="0">
                <a:latin typeface="Bahnschrift Light Condensed" panose="020B0502040204020203" pitchFamily="34" charset="0"/>
              </a:rPr>
              <a:t>Choix du nombre idéal de cluster avec les </a:t>
            </a:r>
            <a:r>
              <a:rPr lang="fr-FR" dirty="0" smtClean="0">
                <a:latin typeface="Bahnschrift Light Condensed" panose="020B0502040204020203" pitchFamily="34" charset="0"/>
              </a:rPr>
              <a:t>métriques </a:t>
            </a:r>
            <a:r>
              <a:rPr lang="fr-FR" dirty="0">
                <a:latin typeface="Bahnschrift Light Condensed" panose="020B0502040204020203" pitchFamily="34" charset="0"/>
              </a:rPr>
              <a:t>: </a:t>
            </a:r>
            <a:endParaRPr lang="fr-FR" dirty="0" smtClean="0">
              <a:latin typeface="Bahnschrift Light Condense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sz="2400" dirty="0">
              <a:latin typeface="Bahnschrift Light Condense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 Silhouette :  </a:t>
            </a:r>
            <a:r>
              <a:rPr lang="fr-FR" sz="2400" dirty="0" smtClean="0">
                <a:latin typeface="Bahnschrift Light Condensed" panose="020B0502040204020203" pitchFamily="34" charset="0"/>
              </a:rPr>
              <a:t>Pic le plus élevé</a:t>
            </a:r>
          </a:p>
          <a:p>
            <a:pPr marL="0" indent="0">
              <a:buNone/>
            </a:pPr>
            <a:endParaRPr lang="fr-FR" sz="2400" dirty="0" smtClean="0">
              <a:latin typeface="Bahnschrift Light Condense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Davis-</a:t>
            </a: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Bouldin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 : </a:t>
            </a:r>
            <a:r>
              <a:rPr lang="fr-FR" sz="2400" dirty="0">
                <a:latin typeface="Bahnschrift Light Condensed" panose="020B0502040204020203" pitchFamily="34" charset="0"/>
              </a:rPr>
              <a:t>Le coude le plus bas</a:t>
            </a:r>
          </a:p>
          <a:p>
            <a:pPr marL="0" indent="0">
              <a:buNone/>
            </a:pPr>
            <a:endParaRPr lang="fr-FR" sz="2400" dirty="0" smtClean="0">
              <a:latin typeface="Bahnschrift Light Condense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b="1" dirty="0" err="1" smtClean="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Inertia</a:t>
            </a:r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 : </a:t>
            </a:r>
            <a:r>
              <a:rPr lang="fr-FR" sz="2400" dirty="0">
                <a:latin typeface="Bahnschrift Light Condensed" panose="020B0502040204020203" pitchFamily="34" charset="0"/>
              </a:rPr>
              <a:t>Le coude ou l’évolution de l’inertie ralentie le plus</a:t>
            </a:r>
            <a:r>
              <a:rPr lang="fr-FR" sz="2400" dirty="0" smtClean="0">
                <a:latin typeface="Bahnschrift Light Condensed" panose="020B0502040204020203" pitchFamily="34" charset="0"/>
              </a:rPr>
              <a:t>.</a:t>
            </a:r>
          </a:p>
          <a:p>
            <a:pPr marL="0" indent="0">
              <a:buNone/>
            </a:pPr>
            <a:r>
              <a:rPr lang="fr-FR" sz="2400" dirty="0" smtClean="0">
                <a:latin typeface="Bahnschrift Light Condensed" panose="020B0502040204020203" pitchFamily="34" charset="0"/>
              </a:rPr>
              <a:t>Suivant ces trois scores, le nombre de clusters optimal à été fixé à 7. </a:t>
            </a:r>
          </a:p>
          <a:p>
            <a:pPr marL="0" indent="0">
              <a:buNone/>
            </a:pPr>
            <a:endParaRPr lang="fr-FR" sz="2400" dirty="0">
              <a:latin typeface="Bahnschrift Light Condensed" panose="020B0502040204020203" pitchFamily="34" charset="0"/>
            </a:endParaRPr>
          </a:p>
          <a:p>
            <a:endParaRPr lang="fr-FR" i="1" dirty="0">
              <a:solidFill>
                <a:schemeClr val="accent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84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II- </a:t>
            </a:r>
            <a:r>
              <a:rPr lang="fr-FR" b="1" dirty="0" err="1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Kmeans</a:t>
            </a: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/>
            </a:r>
            <a:b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fr-FR" sz="3200" b="1" dirty="0" err="1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kmeans</a:t>
            </a:r>
            <a:r>
              <a:rPr lang="fr-FR" sz="3200" b="1" dirty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- RFM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b="1" dirty="0" smtClean="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Nombre optimal de cluster suivant les trois scores</a:t>
            </a:r>
            <a:endParaRPr lang="fr-FR" sz="2000" b="1" dirty="0">
              <a:solidFill>
                <a:schemeClr val="accent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75" y="2246467"/>
            <a:ext cx="5759706" cy="418989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839" y="2246468"/>
            <a:ext cx="5936686" cy="44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14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II- </a:t>
            </a:r>
            <a:r>
              <a:rPr lang="fr-FR" b="1" dirty="0" err="1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Kmeans</a:t>
            </a: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/>
            </a:r>
            <a:b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fr-FR" sz="3200" b="1" dirty="0" err="1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kmeans</a:t>
            </a:r>
            <a:r>
              <a:rPr lang="fr-FR" sz="3200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- RFM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Graphiques en radar des clusters :</a:t>
            </a:r>
          </a:p>
          <a:p>
            <a:pPr marL="0" indent="0">
              <a:buNone/>
            </a:pPr>
            <a:endParaRPr lang="fr-FR" sz="2400" b="1" dirty="0">
              <a:solidFill>
                <a:schemeClr val="accent2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80" y="2344687"/>
            <a:ext cx="2355088" cy="184167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829" y="2344687"/>
            <a:ext cx="2772697" cy="183402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678" y="2198951"/>
            <a:ext cx="2409517" cy="2117838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048" y="4825053"/>
            <a:ext cx="2230621" cy="1960598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1585" y="4825053"/>
            <a:ext cx="2772697" cy="1942178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4824" y="4690115"/>
            <a:ext cx="2674989" cy="2060164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9813" y="3231943"/>
            <a:ext cx="2468511" cy="216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II- </a:t>
            </a:r>
            <a:r>
              <a:rPr lang="fr-FR" b="1" dirty="0" err="1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Kmeans</a:t>
            </a: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/>
            </a:r>
            <a:b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fr-FR" sz="3200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Tous les 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9640"/>
          </a:xfrm>
        </p:spPr>
        <p:txBody>
          <a:bodyPr/>
          <a:lstStyle/>
          <a:p>
            <a:r>
              <a:rPr lang="fr-FR" dirty="0" smtClean="0"/>
              <a:t>Quelques traitements sont effectué également afin de supprimer les nans.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r>
              <a:rPr lang="fr-FR" dirty="0" smtClean="0"/>
              <a:t>Comme le cas du RFM, nous avons retenu 7 clusters : </a:t>
            </a:r>
          </a:p>
          <a:p>
            <a:pPr marL="0" indent="0">
              <a:buNone/>
            </a:pPr>
            <a:endParaRPr lang="fr-FR" dirty="0" smtClean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272" y="2198124"/>
            <a:ext cx="7551175" cy="17145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347" y="4853346"/>
            <a:ext cx="8259099" cy="200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235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II- </a:t>
            </a:r>
            <a:r>
              <a:rPr lang="fr-FR" b="1" dirty="0" err="1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Kmeans</a:t>
            </a: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/>
            </a:r>
            <a:b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fr-FR" sz="2800" b="1" dirty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Tous les 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4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Présentation et étiquetage des différents clusters :</a:t>
            </a:r>
          </a:p>
          <a:p>
            <a:pPr marL="0" indent="0" algn="ctr">
              <a:buNone/>
            </a:pPr>
            <a:endParaRPr lang="fr-FR" sz="2400" b="1" dirty="0">
              <a:solidFill>
                <a:schemeClr val="accent2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45" y="2330245"/>
            <a:ext cx="2648716" cy="207015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697" y="2451712"/>
            <a:ext cx="2573147" cy="201609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401" y="2383844"/>
            <a:ext cx="2393170" cy="2050486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48" y="4601497"/>
            <a:ext cx="2633617" cy="2256503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7043" y="4699819"/>
            <a:ext cx="2611555" cy="2050487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213" y="4469622"/>
            <a:ext cx="2661839" cy="2280684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6747" y="2880852"/>
            <a:ext cx="3008239" cy="251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00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II- </a:t>
            </a:r>
            <a:r>
              <a:rPr lang="fr-FR" b="1" dirty="0" err="1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Kmeans</a:t>
            </a: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/>
            </a:r>
            <a:b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fr-FR" sz="2800" b="1" dirty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Stabilité de l'initialisation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20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 meilleur </a:t>
            </a:r>
            <a:r>
              <a:rPr lang="fr-FR" sz="2000" b="1" dirty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modèle caractérisant le mieux les clusters suivants les features est le modèles avec tous les </a:t>
            </a:r>
            <a:r>
              <a:rPr lang="fr-FR" sz="2000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features</a:t>
            </a:r>
          </a:p>
          <a:p>
            <a:pPr marL="0" indent="0">
              <a:buNone/>
            </a:pPr>
            <a:endParaRPr lang="fr-FR" sz="2000" b="1" dirty="0">
              <a:solidFill>
                <a:schemeClr val="accent2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b="1" dirty="0" smtClean="0">
                <a:latin typeface="Bahnschrift Light SemiCondensed" panose="020B0502040204020203" pitchFamily="34" charset="0"/>
              </a:rPr>
              <a:t>Pour des </a:t>
            </a:r>
            <a:r>
              <a:rPr lang="fr-FR" b="1" dirty="0" err="1" smtClean="0">
                <a:latin typeface="Bahnschrift Light SemiCondensed" panose="020B0502040204020203" pitchFamily="34" charset="0"/>
              </a:rPr>
              <a:t>inialisations</a:t>
            </a:r>
            <a:r>
              <a:rPr lang="fr-FR" b="1" dirty="0" smtClean="0">
                <a:latin typeface="Bahnschrift Light SemiCondensed" panose="020B0502040204020203" pitchFamily="34" charset="0"/>
              </a:rPr>
              <a:t> variant entre </a:t>
            </a: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 &amp; 8 : </a:t>
            </a:r>
          </a:p>
          <a:p>
            <a:pPr marL="0" indent="0">
              <a:buNone/>
            </a:pPr>
            <a:endParaRPr lang="fr-FR" b="1" dirty="0">
              <a:solidFill>
                <a:schemeClr val="accent2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  <a:p>
            <a:pPr marL="0" indent="0">
              <a:buNone/>
            </a:pP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</a:t>
            </a:r>
            <a:r>
              <a:rPr lang="fr-FR" b="1" dirty="0">
                <a:latin typeface="Bahnschrift Light SemiCondensed" panose="020B0502040204020203" pitchFamily="34" charset="0"/>
              </a:rPr>
              <a:t>Le </a:t>
            </a:r>
            <a:r>
              <a:rPr lang="fr-FR" b="1" dirty="0" err="1">
                <a:latin typeface="Bahnschrift Light SemiCondensed" panose="020B0502040204020203" pitchFamily="34" charset="0"/>
              </a:rPr>
              <a:t>Mean</a:t>
            </a:r>
            <a:r>
              <a:rPr lang="fr-FR" b="1" dirty="0">
                <a:latin typeface="Bahnschrift Light SemiCondensed" panose="020B0502040204020203" pitchFamily="34" charset="0"/>
              </a:rPr>
              <a:t> </a:t>
            </a:r>
            <a:r>
              <a:rPr lang="fr-FR" b="1" dirty="0">
                <a:solidFill>
                  <a:schemeClr val="accent2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ARI = 0.99 (proche de 1</a:t>
            </a:r>
            <a:r>
              <a:rPr lang="fr-FR" b="1" dirty="0">
                <a:latin typeface="Bahnschrift Light SemiCondensed" panose="020B0502040204020203" pitchFamily="34" charset="0"/>
              </a:rPr>
              <a:t>), prouve que les clusters sont quasiment similaire pour les différentes </a:t>
            </a:r>
            <a:r>
              <a:rPr lang="fr-FR" b="1" dirty="0" smtClean="0">
                <a:latin typeface="Bahnschrift Light SemiCondensed" panose="020B0502040204020203" pitchFamily="34" charset="0"/>
              </a:rPr>
              <a:t>initialisation.</a:t>
            </a:r>
          </a:p>
          <a:p>
            <a:pPr marL="0" indent="0">
              <a:buNone/>
            </a:pPr>
            <a:endParaRPr lang="fr-FR" b="1" dirty="0">
              <a:latin typeface="Bahnschrift Light SemiCondense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b="1" dirty="0" smtClean="0">
                <a:latin typeface="Bahnschrift Light SemiCondensed" panose="020B0502040204020203" pitchFamily="34" charset="0"/>
              </a:rPr>
              <a:t>D’où la stabilité de notre initialisation</a:t>
            </a:r>
            <a:endParaRPr lang="fr-FR" b="1" dirty="0">
              <a:latin typeface="Bahnschrift Light SemiCondensed" panose="020B0502040204020203" pitchFamily="34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1634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0552"/>
          </a:xfrm>
        </p:spPr>
        <p:txBody>
          <a:bodyPr/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III-Contrat </a:t>
            </a:r>
            <a:r>
              <a:rPr lang="fr-FR" b="1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de maintenance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 smtClean="0">
                <a:latin typeface="Bahnschrift Light Condensed" panose="020B0502040204020203" pitchFamily="34" charset="0"/>
              </a:rPr>
              <a:t>Répartition des données initiales (tables </a:t>
            </a:r>
            <a:r>
              <a:rPr lang="fr-FR" sz="2400" b="1" dirty="0" err="1" smtClean="0">
                <a:latin typeface="Bahnschrift Light Condensed" panose="020B0502040204020203" pitchFamily="34" charset="0"/>
              </a:rPr>
              <a:t>mergées</a:t>
            </a:r>
            <a:r>
              <a:rPr lang="fr-FR" sz="2400" b="1" dirty="0" smtClean="0">
                <a:latin typeface="Bahnschrift Light Condensed" panose="020B0502040204020203" pitchFamily="34" charset="0"/>
              </a:rPr>
              <a:t>) en </a:t>
            </a:r>
            <a:r>
              <a:rPr lang="fr-FR" sz="2400" b="1" dirty="0" smtClean="0">
                <a:solidFill>
                  <a:schemeClr val="accent2">
                    <a:lumMod val="75000"/>
                  </a:schemeClr>
                </a:solidFill>
                <a:latin typeface="Bahnschrift Light Condensed" panose="020B0502040204020203" pitchFamily="34" charset="0"/>
              </a:rPr>
              <a:t>8 sous-échantillons 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 smtClean="0">
                <a:latin typeface="Bahnschrift Light Condensed" panose="020B0502040204020203" pitchFamily="34" charset="0"/>
              </a:rPr>
              <a:t>Appliquer les calculs des features agrégations dans chaque échantillon </a:t>
            </a:r>
            <a:r>
              <a:rPr lang="fr-FR" sz="2400" b="1" dirty="0" smtClean="0">
                <a:solidFill>
                  <a:schemeClr val="accent2">
                    <a:lumMod val="75000"/>
                  </a:schemeClr>
                </a:solidFill>
                <a:latin typeface="Bahnschrift Light Condensed" panose="020B0502040204020203" pitchFamily="34" charset="0"/>
              </a:rPr>
              <a:t>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 smtClean="0">
                <a:latin typeface="Bahnschrift Light Condensed" panose="020B0502040204020203" pitchFamily="34" charset="0"/>
              </a:rPr>
              <a:t>Traitement des nans dans chaque échantillon avec </a:t>
            </a:r>
            <a:r>
              <a:rPr lang="fr-FR" sz="2400" b="1" dirty="0" err="1" smtClean="0">
                <a:solidFill>
                  <a:schemeClr val="accent2">
                    <a:lumMod val="75000"/>
                  </a:schemeClr>
                </a:solidFill>
                <a:latin typeface="Bahnschrift Light Condensed" panose="020B0502040204020203" pitchFamily="34" charset="0"/>
              </a:rPr>
              <a:t>IterativeImputer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fr-FR" sz="2400" b="1" dirty="0" smtClean="0">
                <a:solidFill>
                  <a:schemeClr val="accent2">
                    <a:lumMod val="75000"/>
                  </a:schemeClr>
                </a:solidFill>
                <a:latin typeface="Bahnschrift Light Condensed" panose="020B0502040204020203" pitchFamily="34" charset="0"/>
              </a:rPr>
              <a:t>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 smtClean="0">
                <a:latin typeface="Bahnschrift Light Condensed" panose="020B0502040204020203" pitchFamily="34" charset="0"/>
              </a:rPr>
              <a:t>Entrainer le </a:t>
            </a:r>
            <a:r>
              <a:rPr lang="fr-FR" sz="2400" b="1" dirty="0" err="1" smtClean="0">
                <a:latin typeface="Bahnschrift Light Condensed" panose="020B0502040204020203" pitchFamily="34" charset="0"/>
              </a:rPr>
              <a:t>kmeans</a:t>
            </a:r>
            <a:r>
              <a:rPr lang="fr-FR" sz="2400" b="1" dirty="0" smtClean="0">
                <a:latin typeface="Bahnschrift Light Condensed" panose="020B0502040204020203" pitchFamily="34" charset="0"/>
              </a:rPr>
              <a:t> sur chaque échantillon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 smtClean="0">
                <a:latin typeface="Bahnschrift Light Condensed" panose="020B0502040204020203" pitchFamily="34" charset="0"/>
              </a:rPr>
              <a:t>Prédiction à </a:t>
            </a:r>
            <a:r>
              <a:rPr lang="fr-FR" sz="2400" b="1" dirty="0" err="1" smtClean="0">
                <a:latin typeface="Bahnschrift Light Condensed" panose="020B0502040204020203" pitchFamily="34" charset="0"/>
              </a:rPr>
              <a:t>pardir</a:t>
            </a:r>
            <a:r>
              <a:rPr lang="fr-FR" sz="2400" b="1" dirty="0" smtClean="0">
                <a:latin typeface="Bahnschrift Light Condensed" panose="020B0502040204020203" pitchFamily="34" charset="0"/>
              </a:rPr>
              <a:t> du modèle de base </a:t>
            </a:r>
            <a:r>
              <a:rPr lang="fr-FR" sz="2400" b="1" dirty="0" smtClean="0">
                <a:solidFill>
                  <a:schemeClr val="accent2">
                    <a:lumMod val="75000"/>
                  </a:schemeClr>
                </a:solidFill>
                <a:latin typeface="Bahnschrift Light Condensed" panose="020B0502040204020203" pitchFamily="34" charset="0"/>
              </a:rPr>
              <a:t>T0(--Jan2018) </a:t>
            </a:r>
            <a:r>
              <a:rPr lang="fr-FR" sz="2400" b="1" dirty="0" smtClean="0">
                <a:latin typeface="Bahnschrift Light Condensed" panose="020B0502040204020203" pitchFamily="34" charset="0"/>
              </a:rPr>
              <a:t>les données des </a:t>
            </a:r>
            <a:r>
              <a:rPr lang="fr-FR" sz="2400" b="1" dirty="0" smtClean="0">
                <a:solidFill>
                  <a:schemeClr val="accent2">
                    <a:lumMod val="75000"/>
                  </a:schemeClr>
                </a:solidFill>
                <a:latin typeface="Bahnschrift Light Condensed" panose="020B0502040204020203" pitchFamily="34" charset="0"/>
              </a:rPr>
              <a:t>7 autres échantillons;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 smtClean="0">
                <a:latin typeface="Bahnschrift Light Condensed" panose="020B0502040204020203" pitchFamily="34" charset="0"/>
              </a:rPr>
              <a:t>Calcul du </a:t>
            </a:r>
            <a:r>
              <a:rPr lang="fr-FR" sz="2400" b="1" dirty="0" smtClean="0">
                <a:solidFill>
                  <a:schemeClr val="accent2">
                    <a:lumMod val="75000"/>
                  </a:schemeClr>
                </a:solidFill>
                <a:latin typeface="Bahnschrift Light Condensed" panose="020B0502040204020203" pitchFamily="34" charset="0"/>
              </a:rPr>
              <a:t>score de ARI </a:t>
            </a:r>
            <a:r>
              <a:rPr lang="fr-FR" sz="2400" b="1" dirty="0" smtClean="0">
                <a:latin typeface="Bahnschrift Light Condensed" panose="020B0502040204020203" pitchFamily="34" charset="0"/>
              </a:rPr>
              <a:t>entre chaque prédiction et les </a:t>
            </a:r>
            <a:r>
              <a:rPr lang="fr-FR" sz="2400" b="1" dirty="0" smtClean="0">
                <a:solidFill>
                  <a:schemeClr val="accent2">
                    <a:lumMod val="75000"/>
                  </a:schemeClr>
                </a:solidFill>
                <a:latin typeface="Bahnschrift Light Condensed" panose="020B0502040204020203" pitchFamily="34" charset="0"/>
              </a:rPr>
              <a:t>labels du </a:t>
            </a:r>
            <a:r>
              <a:rPr lang="fr-FR" sz="2400" b="1" dirty="0" err="1" smtClean="0">
                <a:solidFill>
                  <a:schemeClr val="accent2">
                    <a:lumMod val="75000"/>
                  </a:schemeClr>
                </a:solidFill>
                <a:latin typeface="Bahnschrift Light Condensed" panose="020B0502040204020203" pitchFamily="34" charset="0"/>
              </a:rPr>
              <a:t>kmeans</a:t>
            </a:r>
            <a:r>
              <a:rPr lang="fr-FR" sz="2400" b="1" dirty="0" smtClean="0">
                <a:solidFill>
                  <a:schemeClr val="accent2">
                    <a:lumMod val="75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fr-FR" sz="2400" b="1" dirty="0" smtClean="0">
                <a:latin typeface="Bahnschrift Light Condensed" panose="020B0502040204020203" pitchFamily="34" charset="0"/>
              </a:rPr>
              <a:t>de l’échantillon;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2400" b="1" dirty="0" smtClean="0">
              <a:latin typeface="Bahnschrift Light Condensed" panose="020B0502040204020203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2400" b="1" dirty="0" smtClean="0">
              <a:latin typeface="Bahnschrift Light Condensed" panose="020B0502040204020203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2400" b="1" dirty="0">
              <a:solidFill>
                <a:schemeClr val="accent2">
                  <a:lumMod val="75000"/>
                </a:schemeClr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679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III-Stabilité de l'initialisation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1800" b="1" dirty="0">
                <a:solidFill>
                  <a:schemeClr val="accent2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Nous avons le score de ARI le plus faible, au mois d'août. Donc le modèle de vient moins fiables au bout de </a:t>
            </a:r>
            <a:r>
              <a:rPr lang="fr-FR" sz="1800" b="1" dirty="0" smtClean="0">
                <a:solidFill>
                  <a:schemeClr val="accent2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7 </a:t>
            </a:r>
            <a:r>
              <a:rPr lang="fr-FR" sz="1800" b="1" dirty="0">
                <a:solidFill>
                  <a:schemeClr val="accent2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mois à partir de la date de mise en production</a:t>
            </a:r>
            <a:r>
              <a:rPr lang="fr-FR" sz="1800" b="1" dirty="0" smtClean="0">
                <a:solidFill>
                  <a:schemeClr val="accent2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.</a:t>
            </a:r>
            <a:endParaRPr lang="fr-FR" sz="1800" b="1" dirty="0">
              <a:solidFill>
                <a:schemeClr val="accent2">
                  <a:lumMod val="75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30" y="2804549"/>
            <a:ext cx="10675681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14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Conclusion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 smtClean="0">
                <a:latin typeface="Bahnschrift Light Condensed" panose="020B0502040204020203" pitchFamily="34" charset="0"/>
              </a:rPr>
              <a:t>Dans ce projet, nous avons eu à traité 7 jeux de données sur les commandes du sites e-commerce brésilien </a:t>
            </a:r>
            <a:r>
              <a:rPr lang="fr-FR" b="1" dirty="0" err="1" smtClean="0">
                <a:latin typeface="Bahnschrift Light Condensed" panose="020B0502040204020203" pitchFamily="34" charset="0"/>
              </a:rPr>
              <a:t>Olist</a:t>
            </a:r>
            <a:r>
              <a:rPr lang="fr-FR" b="1" dirty="0" smtClean="0">
                <a:latin typeface="Bahnschrift Light Condensed" panose="020B0502040204020203" pitchFamily="34" charset="0"/>
              </a:rPr>
              <a:t>;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 smtClean="0">
                <a:latin typeface="Bahnschrift Light Condensed" panose="020B0502040204020203" pitchFamily="34" charset="0"/>
              </a:rPr>
              <a:t>Jointures et </a:t>
            </a:r>
            <a:r>
              <a:rPr lang="fr-FR" b="1" dirty="0" err="1" smtClean="0">
                <a:latin typeface="Bahnschrift Light Condensed" panose="020B0502040204020203" pitchFamily="34" charset="0"/>
              </a:rPr>
              <a:t>creation</a:t>
            </a:r>
            <a:r>
              <a:rPr lang="fr-FR" b="1" dirty="0" smtClean="0">
                <a:latin typeface="Bahnschrift Light Condensed" panose="020B0502040204020203" pitchFamily="34" charset="0"/>
              </a:rPr>
              <a:t> de features d’agrégations y compris le RFM afin de lancer des modèles de </a:t>
            </a:r>
            <a:r>
              <a:rPr lang="fr-FR" b="1" dirty="0" err="1" smtClean="0">
                <a:latin typeface="Bahnschrift Light Condensed" panose="020B0502040204020203" pitchFamily="34" charset="0"/>
              </a:rPr>
              <a:t>Kmeans</a:t>
            </a:r>
            <a:r>
              <a:rPr lang="fr-FR" b="1" dirty="0">
                <a:latin typeface="Bahnschrift Light Condensed" panose="020B0502040204020203" pitchFamily="34" charset="0"/>
              </a:rPr>
              <a:t>;</a:t>
            </a:r>
            <a:endParaRPr lang="fr-FR" b="1" dirty="0" smtClean="0">
              <a:latin typeface="Bahnschrift Light Condensed" panose="020B0502040204020203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 smtClean="0">
                <a:latin typeface="Bahnschrift Light Condensed" panose="020B0502040204020203" pitchFamily="34" charset="0"/>
              </a:rPr>
              <a:t>Choix du meilleur modèle;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 smtClean="0">
                <a:latin typeface="Bahnschrift Light Condensed" panose="020B0502040204020203" pitchFamily="34" charset="0"/>
              </a:rPr>
              <a:t>Stabilité de l’initialisation 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 smtClean="0">
                <a:latin typeface="Bahnschrift Light Condensed" panose="020B0502040204020203" pitchFamily="34" charset="0"/>
              </a:rPr>
              <a:t>Contrat de maintenance ;</a:t>
            </a:r>
            <a:endParaRPr lang="fr-FR" b="1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0330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7855</TotalTime>
  <Words>721</Words>
  <Application>Microsoft Office PowerPoint</Application>
  <PresentationFormat>Grand écran</PresentationFormat>
  <Paragraphs>93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6" baseType="lpstr">
      <vt:lpstr>Arial</vt:lpstr>
      <vt:lpstr>Bahnschrift Light Condensed</vt:lpstr>
      <vt:lpstr>Bahnschrift Light SemiCondensed</vt:lpstr>
      <vt:lpstr>Bahnschrift SemiBold Condensed</vt:lpstr>
      <vt:lpstr>Bahnschrift SemiLight SemiConde</vt:lpstr>
      <vt:lpstr>Calibri</vt:lpstr>
      <vt:lpstr>Calibri Light</vt:lpstr>
      <vt:lpstr>Wingdings</vt:lpstr>
      <vt:lpstr>Thème Office</vt:lpstr>
      <vt:lpstr>Présentation P5</vt:lpstr>
      <vt:lpstr>Introduction </vt:lpstr>
      <vt:lpstr>Présentation des différents datasets</vt:lpstr>
      <vt:lpstr>I- Traitement &amp; Analyse exploratoire</vt:lpstr>
      <vt:lpstr>I- Traitement &amp; Analyse exploratoire</vt:lpstr>
      <vt:lpstr>I- Traitement &amp; Analyse exploratoire Merge des datasets &amp; features d’agrégation</vt:lpstr>
      <vt:lpstr>I- Traitement &amp; Analyse exploratoire Merge des datasets &amp; features d’agrégation</vt:lpstr>
      <vt:lpstr>I- Traitement &amp; Analyse exploratoire Analyse exploiratoire de la table agrégée</vt:lpstr>
      <vt:lpstr>II- Kmeans kmeans - RFM</vt:lpstr>
      <vt:lpstr>II- Kmeans kmeans - RFM</vt:lpstr>
      <vt:lpstr>II- Kmeans kmeans - RFM</vt:lpstr>
      <vt:lpstr>II- Kmeans Tous les features</vt:lpstr>
      <vt:lpstr>II- Kmeans Tous les features</vt:lpstr>
      <vt:lpstr>II- Kmeans Stabilité de l'initialisation</vt:lpstr>
      <vt:lpstr>III-Contrat de maintenance</vt:lpstr>
      <vt:lpstr>III-Stabilité de l'initialisation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P5</dc:title>
  <dc:creator>El Hadji Diaraff Diégane DIAGNE</dc:creator>
  <cp:lastModifiedBy>El Hadji Diaraff Diégane DIAGNE</cp:lastModifiedBy>
  <cp:revision>37</cp:revision>
  <dcterms:created xsi:type="dcterms:W3CDTF">2023-09-29T12:09:40Z</dcterms:created>
  <dcterms:modified xsi:type="dcterms:W3CDTF">2023-10-04T23:04:59Z</dcterms:modified>
</cp:coreProperties>
</file>