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5" r:id="rId5"/>
    <p:sldId id="259" r:id="rId6"/>
    <p:sldId id="261" r:id="rId7"/>
    <p:sldId id="260" r:id="rId8"/>
    <p:sldId id="262" r:id="rId9"/>
    <p:sldId id="263" r:id="rId10"/>
    <p:sldId id="266" r:id="rId11"/>
    <p:sldId id="267" r:id="rId12"/>
    <p:sldId id="268" r:id="rId13"/>
    <p:sldId id="269" r:id="rId14"/>
    <p:sldId id="272" r:id="rId15"/>
    <p:sldId id="273" r:id="rId16"/>
    <p:sldId id="274" r:id="rId17"/>
    <p:sldId id="275" r:id="rId18"/>
    <p:sldId id="276" r:id="rId19"/>
    <p:sldId id="277" r:id="rId20"/>
    <p:sldId id="271" r:id="rId21"/>
    <p:sldId id="279" r:id="rId22"/>
    <p:sldId id="280" r:id="rId2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l Hadji Diaraff Diégane DIAGNE" initials="EHDDD" lastIdx="2" clrIdx="0">
    <p:extLst>
      <p:ext uri="{19B8F6BF-5375-455C-9EA6-DF929625EA0E}">
        <p15:presenceInfo xmlns:p15="http://schemas.microsoft.com/office/powerpoint/2012/main" userId="S-1-5-21-3373658156-2466960706-948340221-4446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226" autoAdjust="0"/>
    <p:restoredTop sz="94660"/>
  </p:normalViewPr>
  <p:slideViewPr>
    <p:cSldViewPr snapToGrid="0">
      <p:cViewPr varScale="1">
        <p:scale>
          <a:sx n="69" d="100"/>
          <a:sy n="69" d="100"/>
        </p:scale>
        <p:origin x="66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02-08T16:38:12.835" idx="2">
    <p:pos x="6942" y="1025"/>
    <p:text>afin de jugées de la pertinences du choix de ces dernières mais également de voir leur niveau dépendance mutuelle</p:text>
    <p:extLst>
      <p:ext uri="{C676402C-5697-4E1C-873F-D02D1690AC5C}">
        <p15:threadingInfo xmlns:p15="http://schemas.microsoft.com/office/powerpoint/2012/main" timeZoneBias="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55D7865A-5CE4-4AFF-A850-D8ACF06DC5EA}" type="datetimeFigureOut">
              <a:rPr lang="fr-FR" smtClean="0"/>
              <a:t>08/02/2023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BB375F1-FA36-4EA5-9697-823A8A190D4C}" type="slidenum">
              <a:rPr lang="fr-FR" smtClean="0"/>
              <a:t>‹N°›</a:t>
            </a:fld>
            <a:endParaRPr lang="fr-FR"/>
          </a:p>
        </p:txBody>
      </p:sp>
    </p:spTree>
    <p:extLst>
      <p:ext uri="{BB962C8B-B14F-4D97-AF65-F5344CB8AC3E}">
        <p14:creationId xmlns:p14="http://schemas.microsoft.com/office/powerpoint/2010/main" val="2034286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55D7865A-5CE4-4AFF-A850-D8ACF06DC5EA}" type="datetimeFigureOut">
              <a:rPr lang="fr-FR" smtClean="0"/>
              <a:t>08/02/2023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BB375F1-FA36-4EA5-9697-823A8A190D4C}" type="slidenum">
              <a:rPr lang="fr-FR" smtClean="0"/>
              <a:t>‹N°›</a:t>
            </a:fld>
            <a:endParaRPr lang="fr-FR"/>
          </a:p>
        </p:txBody>
      </p:sp>
    </p:spTree>
    <p:extLst>
      <p:ext uri="{BB962C8B-B14F-4D97-AF65-F5344CB8AC3E}">
        <p14:creationId xmlns:p14="http://schemas.microsoft.com/office/powerpoint/2010/main" val="3324498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55D7865A-5CE4-4AFF-A850-D8ACF06DC5EA}" type="datetimeFigureOut">
              <a:rPr lang="fr-FR" smtClean="0"/>
              <a:t>08/02/2023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BB375F1-FA36-4EA5-9697-823A8A190D4C}" type="slidenum">
              <a:rPr lang="fr-FR" smtClean="0"/>
              <a:t>‹N°›</a:t>
            </a:fld>
            <a:endParaRPr lang="fr-FR"/>
          </a:p>
        </p:txBody>
      </p:sp>
    </p:spTree>
    <p:extLst>
      <p:ext uri="{BB962C8B-B14F-4D97-AF65-F5344CB8AC3E}">
        <p14:creationId xmlns:p14="http://schemas.microsoft.com/office/powerpoint/2010/main" val="3222136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55D7865A-5CE4-4AFF-A850-D8ACF06DC5EA}" type="datetimeFigureOut">
              <a:rPr lang="fr-FR" smtClean="0"/>
              <a:t>08/02/2023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3BB375F1-FA36-4EA5-9697-823A8A190D4C}" type="slidenum">
              <a:rPr lang="fr-FR" smtClean="0"/>
              <a:t>‹N°›</a:t>
            </a:fld>
            <a:endParaRPr lang="fr-FR"/>
          </a:p>
        </p:txBody>
      </p:sp>
    </p:spTree>
    <p:extLst>
      <p:ext uri="{BB962C8B-B14F-4D97-AF65-F5344CB8AC3E}">
        <p14:creationId xmlns:p14="http://schemas.microsoft.com/office/powerpoint/2010/main" val="2391774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55D7865A-5CE4-4AFF-A850-D8ACF06DC5EA}" type="datetimeFigureOut">
              <a:rPr lang="fr-FR" smtClean="0"/>
              <a:t>08/02/2023</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3BB375F1-FA36-4EA5-9697-823A8A190D4C}" type="slidenum">
              <a:rPr lang="fr-FR" smtClean="0"/>
              <a:t>‹N°›</a:t>
            </a:fld>
            <a:endParaRPr lang="fr-FR"/>
          </a:p>
        </p:txBody>
      </p:sp>
    </p:spTree>
    <p:extLst>
      <p:ext uri="{BB962C8B-B14F-4D97-AF65-F5344CB8AC3E}">
        <p14:creationId xmlns:p14="http://schemas.microsoft.com/office/powerpoint/2010/main" val="871499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55D7865A-5CE4-4AFF-A850-D8ACF06DC5EA}" type="datetimeFigureOut">
              <a:rPr lang="fr-FR" smtClean="0"/>
              <a:t>08/02/2023</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3BB375F1-FA36-4EA5-9697-823A8A190D4C}" type="slidenum">
              <a:rPr lang="fr-FR" smtClean="0"/>
              <a:t>‹N°›</a:t>
            </a:fld>
            <a:endParaRPr lang="fr-FR"/>
          </a:p>
        </p:txBody>
      </p:sp>
    </p:spTree>
    <p:extLst>
      <p:ext uri="{BB962C8B-B14F-4D97-AF65-F5344CB8AC3E}">
        <p14:creationId xmlns:p14="http://schemas.microsoft.com/office/powerpoint/2010/main" val="2480681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55D7865A-5CE4-4AFF-A850-D8ACF06DC5EA}" type="datetimeFigureOut">
              <a:rPr lang="fr-FR" smtClean="0"/>
              <a:t>08/02/2023</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3BB375F1-FA36-4EA5-9697-823A8A190D4C}" type="slidenum">
              <a:rPr lang="fr-FR" smtClean="0"/>
              <a:t>‹N°›</a:t>
            </a:fld>
            <a:endParaRPr lang="fr-FR"/>
          </a:p>
        </p:txBody>
      </p:sp>
    </p:spTree>
    <p:extLst>
      <p:ext uri="{BB962C8B-B14F-4D97-AF65-F5344CB8AC3E}">
        <p14:creationId xmlns:p14="http://schemas.microsoft.com/office/powerpoint/2010/main" val="1153741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55D7865A-5CE4-4AFF-A850-D8ACF06DC5EA}" type="datetimeFigureOut">
              <a:rPr lang="fr-FR" smtClean="0"/>
              <a:t>08/02/2023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3BB375F1-FA36-4EA5-9697-823A8A190D4C}" type="slidenum">
              <a:rPr lang="fr-FR" smtClean="0"/>
              <a:t>‹N°›</a:t>
            </a:fld>
            <a:endParaRPr lang="fr-FR"/>
          </a:p>
        </p:txBody>
      </p:sp>
    </p:spTree>
    <p:extLst>
      <p:ext uri="{BB962C8B-B14F-4D97-AF65-F5344CB8AC3E}">
        <p14:creationId xmlns:p14="http://schemas.microsoft.com/office/powerpoint/2010/main" val="2346832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55D7865A-5CE4-4AFF-A850-D8ACF06DC5EA}" type="datetimeFigureOut">
              <a:rPr lang="fr-FR" smtClean="0"/>
              <a:t>08/02/2023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3BB375F1-FA36-4EA5-9697-823A8A190D4C}" type="slidenum">
              <a:rPr lang="fr-FR" smtClean="0"/>
              <a:t>‹N°›</a:t>
            </a:fld>
            <a:endParaRPr lang="fr-FR"/>
          </a:p>
        </p:txBody>
      </p:sp>
    </p:spTree>
    <p:extLst>
      <p:ext uri="{BB962C8B-B14F-4D97-AF65-F5344CB8AC3E}">
        <p14:creationId xmlns:p14="http://schemas.microsoft.com/office/powerpoint/2010/main" val="849618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55D7865A-5CE4-4AFF-A850-D8ACF06DC5EA}" type="datetimeFigureOut">
              <a:rPr lang="fr-FR" smtClean="0"/>
              <a:t>08/02/2023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BB375F1-FA36-4EA5-9697-823A8A190D4C}" type="slidenum">
              <a:rPr lang="fr-FR" smtClean="0"/>
              <a:t>‹N°›</a:t>
            </a:fld>
            <a:endParaRPr lang="fr-FR"/>
          </a:p>
        </p:txBody>
      </p:sp>
    </p:spTree>
    <p:extLst>
      <p:ext uri="{BB962C8B-B14F-4D97-AF65-F5344CB8AC3E}">
        <p14:creationId xmlns:p14="http://schemas.microsoft.com/office/powerpoint/2010/main" val="431891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55D7865A-5CE4-4AFF-A850-D8ACF06DC5EA}" type="datetimeFigureOut">
              <a:rPr lang="fr-FR" smtClean="0"/>
              <a:t>08/02/2023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3BB375F1-FA36-4EA5-9697-823A8A190D4C}" type="slidenum">
              <a:rPr lang="fr-FR" smtClean="0"/>
              <a:t>‹N°›</a:t>
            </a:fld>
            <a:endParaRPr lang="fr-FR"/>
          </a:p>
        </p:txBody>
      </p:sp>
    </p:spTree>
    <p:extLst>
      <p:ext uri="{BB962C8B-B14F-4D97-AF65-F5344CB8AC3E}">
        <p14:creationId xmlns:p14="http://schemas.microsoft.com/office/powerpoint/2010/main" val="3932471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D7865A-5CE4-4AFF-A850-D8ACF06DC5EA}" type="datetimeFigureOut">
              <a:rPr lang="fr-FR" smtClean="0"/>
              <a:t>08/02/2023</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B375F1-FA36-4EA5-9697-823A8A190D4C}" type="slidenum">
              <a:rPr lang="fr-FR" smtClean="0"/>
              <a:t>‹N°›</a:t>
            </a:fld>
            <a:endParaRPr lang="fr-FR"/>
          </a:p>
        </p:txBody>
      </p:sp>
    </p:spTree>
    <p:extLst>
      <p:ext uri="{BB962C8B-B14F-4D97-AF65-F5344CB8AC3E}">
        <p14:creationId xmlns:p14="http://schemas.microsoft.com/office/powerpoint/2010/main" val="31170425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1667019"/>
          </a:xfrm>
        </p:spPr>
        <p:txBody>
          <a:bodyPr/>
          <a:lstStyle/>
          <a:p>
            <a:r>
              <a:rPr lang="fr-FR" b="1" dirty="0" smtClean="0">
                <a:solidFill>
                  <a:schemeClr val="accent2"/>
                </a:solidFill>
              </a:rPr>
              <a:t>Présentation projet III</a:t>
            </a:r>
            <a:endParaRPr lang="fr-FR" b="1" dirty="0">
              <a:solidFill>
                <a:schemeClr val="accent2"/>
              </a:solidFill>
            </a:endParaRPr>
          </a:p>
        </p:txBody>
      </p:sp>
      <p:sp>
        <p:nvSpPr>
          <p:cNvPr id="3" name="Sous-titre 2"/>
          <p:cNvSpPr>
            <a:spLocks noGrp="1"/>
          </p:cNvSpPr>
          <p:nvPr>
            <p:ph type="subTitle" idx="1"/>
          </p:nvPr>
        </p:nvSpPr>
        <p:spPr/>
        <p:txBody>
          <a:bodyPr/>
          <a:lstStyle/>
          <a:p>
            <a:r>
              <a:rPr lang="fr-FR" b="1" dirty="0" smtClean="0">
                <a:solidFill>
                  <a:schemeClr val="accent2"/>
                </a:solidFill>
              </a:rPr>
              <a:t>Sujet : </a:t>
            </a:r>
          </a:p>
          <a:p>
            <a:r>
              <a:rPr lang="fr-FR" b="1" dirty="0" smtClean="0">
                <a:solidFill>
                  <a:schemeClr val="tx2"/>
                </a:solidFill>
              </a:rPr>
              <a:t>Concevez une application au service de la santé publique</a:t>
            </a:r>
            <a:endParaRPr lang="fr-FR" b="1" dirty="0">
              <a:solidFill>
                <a:schemeClr val="tx2"/>
              </a:solidFill>
            </a:endParaRPr>
          </a:p>
        </p:txBody>
      </p:sp>
    </p:spTree>
    <p:extLst>
      <p:ext uri="{BB962C8B-B14F-4D97-AF65-F5344CB8AC3E}">
        <p14:creationId xmlns:p14="http://schemas.microsoft.com/office/powerpoint/2010/main" val="4090942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fontScale="85000" lnSpcReduction="10000"/>
          </a:bodyPr>
          <a:lstStyle/>
          <a:p>
            <a:pPr marL="0" indent="0">
              <a:buNone/>
            </a:pPr>
            <a:r>
              <a:rPr lang="fr-FR" dirty="0" smtClean="0"/>
              <a:t>Dans le cadre </a:t>
            </a:r>
            <a:r>
              <a:rPr lang="fr-FR" dirty="0"/>
              <a:t>de </a:t>
            </a:r>
            <a:r>
              <a:rPr lang="fr-FR" b="1" dirty="0" smtClean="0"/>
              <a:t>l’appel </a:t>
            </a:r>
            <a:r>
              <a:rPr lang="fr-FR" b="1" dirty="0"/>
              <a:t>à projets pour trouver des idées innovantes d’applications en lien avec </a:t>
            </a:r>
            <a:r>
              <a:rPr lang="fr-FR" b="1" dirty="0" smtClean="0"/>
              <a:t>l'alimentation </a:t>
            </a:r>
            <a:r>
              <a:rPr lang="fr-FR" dirty="0" smtClean="0"/>
              <a:t>lancé par l’agence « Santé </a:t>
            </a:r>
            <a:r>
              <a:rPr lang="fr-FR" dirty="0"/>
              <a:t>P</a:t>
            </a:r>
            <a:r>
              <a:rPr lang="fr-FR" dirty="0" smtClean="0"/>
              <a:t>ublique France », nous tenons à faire une proposition d’une idée d’application. </a:t>
            </a:r>
          </a:p>
          <a:p>
            <a:pPr marL="0" indent="0">
              <a:buNone/>
            </a:pPr>
            <a:endParaRPr lang="fr-FR" dirty="0" smtClean="0"/>
          </a:p>
          <a:p>
            <a:pPr marL="0" indent="0">
              <a:buNone/>
            </a:pPr>
            <a:r>
              <a:rPr lang="fr-FR" dirty="0" smtClean="0"/>
              <a:t>Ainsi, le projet tourne autour de </a:t>
            </a:r>
            <a:r>
              <a:rPr lang="fr-FR" dirty="0" smtClean="0"/>
              <a:t>trois</a:t>
            </a:r>
            <a:r>
              <a:rPr lang="fr-FR" dirty="0" smtClean="0"/>
              <a:t> </a:t>
            </a:r>
            <a:r>
              <a:rPr lang="fr-FR" dirty="0" smtClean="0"/>
              <a:t>volets :</a:t>
            </a:r>
          </a:p>
          <a:p>
            <a:pPr marL="0" indent="0">
              <a:buNone/>
            </a:pPr>
            <a:endParaRPr lang="fr-FR" dirty="0" smtClean="0"/>
          </a:p>
          <a:p>
            <a:pPr marL="0" indent="0">
              <a:buNone/>
            </a:pPr>
            <a:r>
              <a:rPr lang="fr-FR" dirty="0" smtClean="0"/>
              <a:t>- Choix d’une idée d’application</a:t>
            </a:r>
          </a:p>
          <a:p>
            <a:pPr marL="0" indent="0">
              <a:buNone/>
            </a:pPr>
            <a:endParaRPr lang="fr-FR" dirty="0" smtClean="0"/>
          </a:p>
          <a:p>
            <a:pPr>
              <a:buFontTx/>
              <a:buChar char="-"/>
            </a:pPr>
            <a:r>
              <a:rPr lang="fr-FR" dirty="0" smtClean="0"/>
              <a:t>Traitements des données ;</a:t>
            </a:r>
          </a:p>
          <a:p>
            <a:pPr marL="0" indent="0">
              <a:buNone/>
            </a:pPr>
            <a:endParaRPr lang="fr-FR" dirty="0" smtClean="0"/>
          </a:p>
          <a:p>
            <a:pPr>
              <a:buFontTx/>
              <a:buChar char="-"/>
            </a:pPr>
            <a:r>
              <a:rPr lang="fr-FR" dirty="0" smtClean="0"/>
              <a:t>Analyse des données ;</a:t>
            </a:r>
            <a:endParaRPr lang="fr-FR" dirty="0"/>
          </a:p>
        </p:txBody>
      </p:sp>
      <p:sp>
        <p:nvSpPr>
          <p:cNvPr id="4" name="Titre 1"/>
          <p:cNvSpPr txBox="1">
            <a:spLocks/>
          </p:cNvSpPr>
          <p:nvPr/>
        </p:nvSpPr>
        <p:spPr>
          <a:xfrm>
            <a:off x="2309091" y="0"/>
            <a:ext cx="5301673" cy="16670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b="1" dirty="0" smtClean="0">
                <a:solidFill>
                  <a:schemeClr val="accent2"/>
                </a:solidFill>
              </a:rPr>
              <a:t>Introduction</a:t>
            </a:r>
            <a:endParaRPr lang="fr-FR" b="1" dirty="0">
              <a:solidFill>
                <a:schemeClr val="accent2"/>
              </a:solidFill>
            </a:endParaRPr>
          </a:p>
        </p:txBody>
      </p:sp>
    </p:spTree>
    <p:extLst>
      <p:ext uri="{BB962C8B-B14F-4D97-AF65-F5344CB8AC3E}">
        <p14:creationId xmlns:p14="http://schemas.microsoft.com/office/powerpoint/2010/main" val="1407753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838200" y="1825625"/>
            <a:ext cx="10515600" cy="4843030"/>
          </a:xfrm>
        </p:spPr>
        <p:txBody>
          <a:bodyPr/>
          <a:lstStyle/>
          <a:p>
            <a:r>
              <a:rPr lang="fr-FR" dirty="0" smtClean="0"/>
              <a:t>Au vue de la </a:t>
            </a:r>
            <a:r>
              <a:rPr lang="fr-FR" dirty="0"/>
              <a:t>table </a:t>
            </a:r>
            <a:r>
              <a:rPr lang="fr-FR" dirty="0" smtClean="0"/>
              <a:t>en notre disposition </a:t>
            </a:r>
            <a:r>
              <a:rPr lang="fr-FR" dirty="0">
                <a:solidFill>
                  <a:prstClr val="black"/>
                </a:solidFill>
              </a:rPr>
              <a:t>(</a:t>
            </a:r>
            <a:r>
              <a:rPr lang="fr-FR" sz="2000" b="1" dirty="0">
                <a:solidFill>
                  <a:srgbClr val="ED7D31"/>
                </a:solidFill>
              </a:rPr>
              <a:t>320 772 </a:t>
            </a:r>
            <a:r>
              <a:rPr lang="fr-FR" sz="2000" b="1" dirty="0" err="1">
                <a:solidFill>
                  <a:srgbClr val="ED7D31"/>
                </a:solidFill>
              </a:rPr>
              <a:t>obs</a:t>
            </a:r>
            <a:r>
              <a:rPr lang="fr-FR" sz="2000" b="1" dirty="0">
                <a:solidFill>
                  <a:srgbClr val="ED7D31"/>
                </a:solidFill>
              </a:rPr>
              <a:t> &amp; 162 vars</a:t>
            </a:r>
            <a:r>
              <a:rPr lang="fr-FR" dirty="0">
                <a:solidFill>
                  <a:prstClr val="black"/>
                </a:solidFill>
              </a:rPr>
              <a:t>)</a:t>
            </a:r>
            <a:r>
              <a:rPr lang="fr-FR" dirty="0" smtClean="0"/>
              <a:t> et aux</a:t>
            </a:r>
          </a:p>
          <a:p>
            <a:pPr marL="0" indent="0">
              <a:buNone/>
            </a:pPr>
            <a:r>
              <a:rPr lang="fr-FR" dirty="0" smtClean="0"/>
              <a:t>attentes du projet, nous avons choisi comme idée d’application : </a:t>
            </a:r>
          </a:p>
          <a:p>
            <a:pPr marL="0" indent="0">
              <a:buNone/>
            </a:pPr>
            <a:r>
              <a:rPr lang="fr-FR" dirty="0"/>
              <a:t>la création d'un score définissant le risque </a:t>
            </a:r>
            <a:r>
              <a:rPr lang="fr-FR" dirty="0">
                <a:solidFill>
                  <a:schemeClr val="accent2"/>
                </a:solidFill>
              </a:rPr>
              <a:t>d'hyperglycémie</a:t>
            </a:r>
            <a:r>
              <a:rPr lang="fr-FR" dirty="0"/>
              <a:t> lié à la </a:t>
            </a:r>
            <a:r>
              <a:rPr lang="fr-FR" dirty="0" smtClean="0"/>
              <a:t>consommation </a:t>
            </a:r>
            <a:r>
              <a:rPr lang="fr-FR" dirty="0"/>
              <a:t>d'un produit par agrégation des indicateurs clé de contenance de sucre et de matière grasse tels que :</a:t>
            </a:r>
          </a:p>
          <a:p>
            <a:pPr marL="0" indent="0">
              <a:buNone/>
            </a:pPr>
            <a:r>
              <a:rPr lang="fr-FR" b="1" dirty="0" smtClean="0">
                <a:solidFill>
                  <a:schemeClr val="accent2"/>
                </a:solidFill>
              </a:rPr>
              <a:t>Le sucre, </a:t>
            </a:r>
          </a:p>
          <a:p>
            <a:pPr marL="0" indent="0">
              <a:buNone/>
            </a:pPr>
            <a:r>
              <a:rPr lang="fr-FR" b="1" dirty="0" smtClean="0">
                <a:solidFill>
                  <a:schemeClr val="accent2"/>
                </a:solidFill>
              </a:rPr>
              <a:t>La graisse, </a:t>
            </a:r>
          </a:p>
          <a:p>
            <a:pPr marL="0" indent="0">
              <a:buNone/>
            </a:pPr>
            <a:r>
              <a:rPr lang="fr-FR" b="1" dirty="0" smtClean="0">
                <a:solidFill>
                  <a:schemeClr val="accent2"/>
                </a:solidFill>
              </a:rPr>
              <a:t>La graisse saturée,</a:t>
            </a:r>
          </a:p>
          <a:p>
            <a:pPr marL="0" indent="0">
              <a:buNone/>
            </a:pPr>
            <a:r>
              <a:rPr lang="fr-FR" b="1" dirty="0" smtClean="0">
                <a:solidFill>
                  <a:schemeClr val="accent2"/>
                </a:solidFill>
              </a:rPr>
              <a:t>Le </a:t>
            </a:r>
            <a:r>
              <a:rPr lang="fr-FR" b="1" dirty="0" err="1" smtClean="0">
                <a:solidFill>
                  <a:schemeClr val="accent2"/>
                </a:solidFill>
              </a:rPr>
              <a:t>cholesterol</a:t>
            </a:r>
            <a:r>
              <a:rPr lang="fr-FR" b="1" dirty="0" smtClean="0">
                <a:solidFill>
                  <a:schemeClr val="accent2"/>
                </a:solidFill>
              </a:rPr>
              <a:t>, </a:t>
            </a:r>
          </a:p>
          <a:p>
            <a:pPr marL="0" indent="0">
              <a:buNone/>
            </a:pPr>
            <a:r>
              <a:rPr lang="fr-FR" b="1" dirty="0" smtClean="0">
                <a:solidFill>
                  <a:schemeClr val="accent2"/>
                </a:solidFill>
              </a:rPr>
              <a:t>Le nutriscore</a:t>
            </a:r>
            <a:endParaRPr lang="fr-FR" b="1" dirty="0">
              <a:solidFill>
                <a:schemeClr val="accent2"/>
              </a:solidFill>
            </a:endParaRPr>
          </a:p>
          <a:p>
            <a:pPr marL="0" indent="0">
              <a:buNone/>
            </a:pPr>
            <a:endParaRPr lang="fr-FR" dirty="0" smtClean="0"/>
          </a:p>
          <a:p>
            <a:endParaRPr lang="fr-FR" dirty="0" smtClean="0"/>
          </a:p>
        </p:txBody>
      </p:sp>
      <p:sp>
        <p:nvSpPr>
          <p:cNvPr id="4" name="Titre 1"/>
          <p:cNvSpPr txBox="1">
            <a:spLocks/>
          </p:cNvSpPr>
          <p:nvPr/>
        </p:nvSpPr>
        <p:spPr>
          <a:xfrm>
            <a:off x="2309091" y="434109"/>
            <a:ext cx="7823200" cy="12329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b="1" dirty="0">
                <a:solidFill>
                  <a:schemeClr val="accent2"/>
                </a:solidFill>
              </a:rPr>
              <a:t>Choix d’une idée d’application</a:t>
            </a:r>
          </a:p>
        </p:txBody>
      </p:sp>
    </p:spTree>
    <p:extLst>
      <p:ext uri="{BB962C8B-B14F-4D97-AF65-F5344CB8AC3E}">
        <p14:creationId xmlns:p14="http://schemas.microsoft.com/office/powerpoint/2010/main" val="40893193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2091" y="2849707"/>
            <a:ext cx="10515600" cy="1325563"/>
          </a:xfrm>
        </p:spPr>
        <p:txBody>
          <a:bodyPr>
            <a:normAutofit/>
          </a:bodyPr>
          <a:lstStyle/>
          <a:p>
            <a:pPr algn="ctr"/>
            <a:r>
              <a:rPr lang="fr-FR" sz="6600" b="1" dirty="0" smtClean="0">
                <a:solidFill>
                  <a:schemeClr val="accent2"/>
                </a:solidFill>
                <a:latin typeface="Bahnschrift SemiBold" panose="020B0502040204020203" pitchFamily="34" charset="0"/>
              </a:rPr>
              <a:t>Traitements des données </a:t>
            </a:r>
            <a:endParaRPr lang="fr-FR" sz="6600" dirty="0">
              <a:latin typeface="Bahnschrift SemiBold" panose="020B0502040204020203" pitchFamily="34" charset="0"/>
            </a:endParaRPr>
          </a:p>
        </p:txBody>
      </p:sp>
    </p:spTree>
    <p:extLst>
      <p:ext uri="{BB962C8B-B14F-4D97-AF65-F5344CB8AC3E}">
        <p14:creationId xmlns:p14="http://schemas.microsoft.com/office/powerpoint/2010/main" val="500195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847273" y="365125"/>
            <a:ext cx="8358910" cy="964911"/>
          </a:xfrm>
        </p:spPr>
        <p:txBody>
          <a:bodyPr vert="horz" lIns="91440" tIns="45720" rIns="91440" bIns="45720" rtlCol="0" anchor="ctr">
            <a:normAutofit/>
          </a:bodyPr>
          <a:lstStyle/>
          <a:p>
            <a:pPr algn="ctr"/>
            <a:r>
              <a:rPr lang="fr-FR" b="1" dirty="0">
                <a:solidFill>
                  <a:schemeClr val="accent2"/>
                </a:solidFill>
              </a:rPr>
              <a:t>Traitements des données </a:t>
            </a:r>
          </a:p>
        </p:txBody>
      </p:sp>
      <p:sp>
        <p:nvSpPr>
          <p:cNvPr id="3" name="Espace réservé du contenu 2"/>
          <p:cNvSpPr>
            <a:spLocks noGrp="1"/>
          </p:cNvSpPr>
          <p:nvPr>
            <p:ph idx="1"/>
          </p:nvPr>
        </p:nvSpPr>
        <p:spPr>
          <a:xfrm>
            <a:off x="893619" y="1487055"/>
            <a:ext cx="10515600" cy="5301672"/>
          </a:xfrm>
        </p:spPr>
        <p:txBody>
          <a:bodyPr/>
          <a:lstStyle/>
          <a:p>
            <a:pPr marL="0" indent="0">
              <a:buNone/>
            </a:pPr>
            <a:r>
              <a:rPr lang="fr-FR" dirty="0" smtClean="0"/>
              <a:t>Comme listées plus haut, les variables continues, jugées pertinentes, retenues sont  :  </a:t>
            </a:r>
          </a:p>
          <a:p>
            <a:pPr marL="0" indent="0">
              <a:buNone/>
            </a:pPr>
            <a:r>
              <a:rPr lang="fr-FR" sz="2400" b="1" dirty="0">
                <a:solidFill>
                  <a:schemeClr val="accent2"/>
                </a:solidFill>
              </a:rPr>
              <a:t>Le sucre, </a:t>
            </a:r>
          </a:p>
          <a:p>
            <a:pPr marL="0" indent="0">
              <a:buNone/>
            </a:pPr>
            <a:r>
              <a:rPr lang="fr-FR" sz="2400" b="1" dirty="0">
                <a:solidFill>
                  <a:schemeClr val="accent2"/>
                </a:solidFill>
              </a:rPr>
              <a:t>La graisse, </a:t>
            </a:r>
          </a:p>
          <a:p>
            <a:pPr marL="0" indent="0">
              <a:buNone/>
            </a:pPr>
            <a:r>
              <a:rPr lang="fr-FR" sz="2400" b="1" dirty="0">
                <a:solidFill>
                  <a:schemeClr val="accent2"/>
                </a:solidFill>
              </a:rPr>
              <a:t>La graisse saturée,</a:t>
            </a:r>
          </a:p>
          <a:p>
            <a:pPr marL="0" indent="0">
              <a:buNone/>
            </a:pPr>
            <a:r>
              <a:rPr lang="fr-FR" sz="2400" b="1" dirty="0">
                <a:solidFill>
                  <a:schemeClr val="accent2"/>
                </a:solidFill>
              </a:rPr>
              <a:t>Le </a:t>
            </a:r>
            <a:r>
              <a:rPr lang="fr-FR" sz="2400" b="1" dirty="0" err="1">
                <a:solidFill>
                  <a:schemeClr val="accent2"/>
                </a:solidFill>
              </a:rPr>
              <a:t>cholesterol</a:t>
            </a:r>
            <a:r>
              <a:rPr lang="fr-FR" sz="2400" b="1" dirty="0">
                <a:solidFill>
                  <a:schemeClr val="accent2"/>
                </a:solidFill>
              </a:rPr>
              <a:t>, </a:t>
            </a:r>
          </a:p>
          <a:p>
            <a:pPr marL="0" indent="0">
              <a:buNone/>
            </a:pPr>
            <a:r>
              <a:rPr lang="fr-FR" sz="2400" b="1" dirty="0">
                <a:solidFill>
                  <a:schemeClr val="accent2"/>
                </a:solidFill>
              </a:rPr>
              <a:t>Le </a:t>
            </a:r>
            <a:r>
              <a:rPr lang="fr-FR" sz="2400" b="1" dirty="0" smtClean="0">
                <a:solidFill>
                  <a:schemeClr val="accent2"/>
                </a:solidFill>
              </a:rPr>
              <a:t>nutriscore.</a:t>
            </a:r>
            <a:endParaRPr lang="fr-FR" sz="2400" b="1" dirty="0">
              <a:solidFill>
                <a:schemeClr val="accent2"/>
              </a:solidFill>
            </a:endParaRPr>
          </a:p>
          <a:p>
            <a:pPr marL="0" indent="0">
              <a:lnSpc>
                <a:spcPct val="200000"/>
              </a:lnSpc>
              <a:buNone/>
            </a:pPr>
            <a:r>
              <a:rPr lang="fr-FR" dirty="0" smtClean="0"/>
              <a:t>Nous avons également retenu, comme variable catégorielles : </a:t>
            </a:r>
          </a:p>
          <a:p>
            <a:pPr marL="0" indent="0">
              <a:buNone/>
            </a:pPr>
            <a:r>
              <a:rPr lang="fr-FR" dirty="0" smtClean="0"/>
              <a:t>- La </a:t>
            </a:r>
            <a:r>
              <a:rPr lang="fr-FR" b="1" dirty="0" smtClean="0">
                <a:solidFill>
                  <a:schemeClr val="accent2"/>
                </a:solidFill>
              </a:rPr>
              <a:t>catégorie de produit</a:t>
            </a:r>
            <a:r>
              <a:rPr lang="fr-FR" dirty="0" smtClean="0"/>
              <a:t>, le </a:t>
            </a:r>
            <a:r>
              <a:rPr lang="fr-FR" b="1" dirty="0" smtClean="0">
                <a:solidFill>
                  <a:schemeClr val="accent2"/>
                </a:solidFill>
              </a:rPr>
              <a:t>pays d’origine </a:t>
            </a:r>
            <a:r>
              <a:rPr lang="fr-FR" dirty="0" smtClean="0"/>
              <a:t>ainsi que le </a:t>
            </a:r>
            <a:r>
              <a:rPr lang="fr-FR" sz="2400" b="1" dirty="0">
                <a:solidFill>
                  <a:schemeClr val="accent2"/>
                </a:solidFill>
              </a:rPr>
              <a:t>nutrigrade</a:t>
            </a:r>
            <a:r>
              <a:rPr lang="fr-FR" dirty="0" smtClean="0"/>
              <a:t>. </a:t>
            </a:r>
          </a:p>
        </p:txBody>
      </p:sp>
    </p:spTree>
    <p:extLst>
      <p:ext uri="{BB962C8B-B14F-4D97-AF65-F5344CB8AC3E}">
        <p14:creationId xmlns:p14="http://schemas.microsoft.com/office/powerpoint/2010/main" val="534953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847273" y="365125"/>
            <a:ext cx="8358910" cy="964911"/>
          </a:xfrm>
        </p:spPr>
        <p:txBody>
          <a:bodyPr vert="horz" lIns="91440" tIns="45720" rIns="91440" bIns="45720" rtlCol="0" anchor="ctr">
            <a:normAutofit/>
          </a:bodyPr>
          <a:lstStyle/>
          <a:p>
            <a:pPr algn="ctr"/>
            <a:r>
              <a:rPr lang="fr-FR" b="1" dirty="0">
                <a:solidFill>
                  <a:schemeClr val="accent2"/>
                </a:solidFill>
              </a:rPr>
              <a:t>Traitements des données </a:t>
            </a:r>
          </a:p>
        </p:txBody>
      </p:sp>
      <p:sp>
        <p:nvSpPr>
          <p:cNvPr id="3" name="Espace réservé du contenu 2"/>
          <p:cNvSpPr>
            <a:spLocks noGrp="1"/>
          </p:cNvSpPr>
          <p:nvPr>
            <p:ph idx="1"/>
          </p:nvPr>
        </p:nvSpPr>
        <p:spPr>
          <a:xfrm>
            <a:off x="893619" y="1487055"/>
            <a:ext cx="10515600" cy="5301672"/>
          </a:xfrm>
        </p:spPr>
        <p:txBody>
          <a:bodyPr/>
          <a:lstStyle/>
          <a:p>
            <a:pPr marL="0" indent="0">
              <a:buNone/>
            </a:pPr>
            <a:r>
              <a:rPr lang="fr-FR" dirty="0" smtClean="0"/>
              <a:t>Après choix des variables, nous avons supprimés les doublons et garder uniquement les individus pour les quelles les variables clés de notre analyse (</a:t>
            </a:r>
            <a:r>
              <a:rPr lang="fr-FR" sz="2400" b="1" dirty="0" smtClean="0">
                <a:solidFill>
                  <a:schemeClr val="accent2"/>
                </a:solidFill>
              </a:rPr>
              <a:t>sugars_100g &amp; fat_100g</a:t>
            </a:r>
            <a:r>
              <a:rPr lang="fr-FR" dirty="0" smtClean="0"/>
              <a:t>) sont renseignées. </a:t>
            </a:r>
          </a:p>
          <a:p>
            <a:pPr marL="0" indent="0">
              <a:buNone/>
            </a:pPr>
            <a:endParaRPr lang="fr-FR" dirty="0"/>
          </a:p>
          <a:p>
            <a:pPr marL="0" indent="0">
              <a:buNone/>
            </a:pPr>
            <a:r>
              <a:rPr lang="fr-FR" dirty="0" smtClean="0"/>
              <a:t>Après application de ce filtre sur les lignes, nous avons une table de taille </a:t>
            </a:r>
            <a:r>
              <a:rPr lang="fr-FR" dirty="0"/>
              <a:t>: </a:t>
            </a:r>
            <a:r>
              <a:rPr lang="fr-FR" sz="2000" b="1" dirty="0">
                <a:solidFill>
                  <a:srgbClr val="ED7D31"/>
                </a:solidFill>
              </a:rPr>
              <a:t>(306071, 13</a:t>
            </a:r>
            <a:r>
              <a:rPr lang="fr-FR" sz="2000" b="1" dirty="0" smtClean="0">
                <a:solidFill>
                  <a:srgbClr val="ED7D31"/>
                </a:solidFill>
              </a:rPr>
              <a:t>).</a:t>
            </a:r>
            <a:endParaRPr lang="fr-FR" sz="2000" b="1" dirty="0">
              <a:solidFill>
                <a:srgbClr val="ED7D31"/>
              </a:solidFill>
            </a:endParaRPr>
          </a:p>
          <a:p>
            <a:pPr marL="0" indent="0">
              <a:buNone/>
            </a:pPr>
            <a:endParaRPr lang="fr-FR" dirty="0" smtClean="0"/>
          </a:p>
          <a:p>
            <a:pPr marL="0" indent="0">
              <a:buNone/>
            </a:pPr>
            <a:r>
              <a:rPr lang="fr-FR" dirty="0" smtClean="0"/>
              <a:t>Différents traitements on été appliquées dépendamment du type de la variable :  </a:t>
            </a:r>
          </a:p>
          <a:p>
            <a:pPr marL="0" indent="0">
              <a:buNone/>
            </a:pPr>
            <a:endParaRPr lang="fr-FR" dirty="0" smtClean="0"/>
          </a:p>
        </p:txBody>
      </p:sp>
    </p:spTree>
    <p:extLst>
      <p:ext uri="{BB962C8B-B14F-4D97-AF65-F5344CB8AC3E}">
        <p14:creationId xmlns:p14="http://schemas.microsoft.com/office/powerpoint/2010/main" val="3201651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838200" y="1893455"/>
            <a:ext cx="10515600" cy="4756726"/>
          </a:xfrm>
        </p:spPr>
        <p:txBody>
          <a:bodyPr>
            <a:normAutofit fontScale="92500" lnSpcReduction="20000"/>
          </a:bodyPr>
          <a:lstStyle/>
          <a:p>
            <a:pPr>
              <a:lnSpc>
                <a:spcPct val="100000"/>
              </a:lnSpc>
            </a:pPr>
            <a:r>
              <a:rPr lang="fr-FR" dirty="0" err="1" smtClean="0"/>
              <a:t>Catégorie_produit</a:t>
            </a:r>
            <a:r>
              <a:rPr lang="fr-FR" dirty="0" smtClean="0"/>
              <a:t> (</a:t>
            </a:r>
            <a:r>
              <a:rPr lang="fr-FR" sz="2400" b="1" dirty="0" smtClean="0">
                <a:solidFill>
                  <a:schemeClr val="accent2"/>
                </a:solidFill>
              </a:rPr>
              <a:t>pnns_groups_1</a:t>
            </a:r>
            <a:r>
              <a:rPr lang="fr-FR" dirty="0" smtClean="0"/>
              <a:t>) : Les </a:t>
            </a:r>
            <a:r>
              <a:rPr lang="fr-FR" dirty="0" err="1" smtClean="0"/>
              <a:t>missings</a:t>
            </a:r>
            <a:r>
              <a:rPr lang="fr-FR" dirty="0" smtClean="0"/>
              <a:t> values sont </a:t>
            </a:r>
            <a:r>
              <a:rPr lang="fr-FR" dirty="0" smtClean="0"/>
              <a:t>remplacés </a:t>
            </a:r>
            <a:r>
              <a:rPr lang="fr-FR" dirty="0" smtClean="0"/>
              <a:t>par le mode (</a:t>
            </a:r>
            <a:r>
              <a:rPr lang="fr-FR" dirty="0" err="1" smtClean="0"/>
              <a:t>unknown</a:t>
            </a:r>
            <a:r>
              <a:rPr lang="fr-FR" dirty="0" smtClean="0"/>
              <a:t>).</a:t>
            </a:r>
          </a:p>
          <a:p>
            <a:pPr>
              <a:lnSpc>
                <a:spcPct val="100000"/>
              </a:lnSpc>
            </a:pPr>
            <a:r>
              <a:rPr lang="fr-FR" dirty="0" smtClean="0"/>
              <a:t>En ce qui concerne les variables continues : </a:t>
            </a:r>
          </a:p>
          <a:p>
            <a:pPr marL="0" indent="0">
              <a:lnSpc>
                <a:spcPct val="100000"/>
              </a:lnSpc>
              <a:buNone/>
            </a:pPr>
            <a:endParaRPr lang="fr-FR" dirty="0" smtClean="0"/>
          </a:p>
          <a:p>
            <a:pPr marL="0" indent="0">
              <a:lnSpc>
                <a:spcPct val="100000"/>
              </a:lnSpc>
              <a:buNone/>
            </a:pPr>
            <a:r>
              <a:rPr lang="fr-FR" dirty="0" smtClean="0"/>
              <a:t>Nous avons commencé par supprimer les valeurs aberrantes : </a:t>
            </a:r>
          </a:p>
          <a:p>
            <a:pPr marL="0" indent="0">
              <a:lnSpc>
                <a:spcPct val="100000"/>
              </a:lnSpc>
              <a:buNone/>
            </a:pPr>
            <a:endParaRPr lang="fr-FR" dirty="0" smtClean="0"/>
          </a:p>
          <a:p>
            <a:pPr>
              <a:lnSpc>
                <a:spcPct val="100000"/>
              </a:lnSpc>
              <a:buFont typeface="Wingdings" panose="05000000000000000000" pitchFamily="2" charset="2"/>
              <a:buChar char="ü"/>
            </a:pPr>
            <a:r>
              <a:rPr lang="fr-FR" dirty="0" smtClean="0"/>
              <a:t> </a:t>
            </a:r>
            <a:r>
              <a:rPr lang="fr-FR" sz="2200" b="1" dirty="0" smtClean="0">
                <a:solidFill>
                  <a:schemeClr val="accent2"/>
                </a:solidFill>
              </a:rPr>
              <a:t>Sugars_100g, fat_100g, saturated_fat_100g, cholesterol_100g </a:t>
            </a:r>
            <a:r>
              <a:rPr lang="fr-FR" dirty="0" smtClean="0"/>
              <a:t>: les valeurs normales sont celles comprise entre </a:t>
            </a:r>
            <a:r>
              <a:rPr lang="fr-FR" sz="2200" b="1" dirty="0">
                <a:solidFill>
                  <a:schemeClr val="accent2"/>
                </a:solidFill>
              </a:rPr>
              <a:t>0 à 100g</a:t>
            </a:r>
            <a:r>
              <a:rPr lang="fr-FR" dirty="0" smtClean="0"/>
              <a:t>. </a:t>
            </a:r>
          </a:p>
          <a:p>
            <a:pPr>
              <a:lnSpc>
                <a:spcPct val="100000"/>
              </a:lnSpc>
              <a:buFont typeface="Wingdings" panose="05000000000000000000" pitchFamily="2" charset="2"/>
              <a:buChar char="ü"/>
            </a:pPr>
            <a:r>
              <a:rPr lang="fr-FR" dirty="0"/>
              <a:t> </a:t>
            </a:r>
            <a:r>
              <a:rPr lang="fr-FR" dirty="0" smtClean="0"/>
              <a:t>nutrition_score_fr_100g : la plage de score normal est </a:t>
            </a:r>
            <a:r>
              <a:rPr lang="fr-FR" sz="2200" b="1" dirty="0">
                <a:solidFill>
                  <a:schemeClr val="accent2"/>
                </a:solidFill>
              </a:rPr>
              <a:t>-15 à 40</a:t>
            </a:r>
            <a:r>
              <a:rPr lang="fr-FR" dirty="0" smtClean="0"/>
              <a:t>.</a:t>
            </a:r>
          </a:p>
          <a:p>
            <a:pPr marL="0" indent="0">
              <a:lnSpc>
                <a:spcPct val="100000"/>
              </a:lnSpc>
              <a:buNone/>
            </a:pPr>
            <a:r>
              <a:rPr lang="fr-FR" dirty="0" smtClean="0"/>
              <a:t>Tout ingrédient ayant une valeur hors de cette plage est considéré comme une valeur aberrante à supprimer. </a:t>
            </a:r>
          </a:p>
        </p:txBody>
      </p:sp>
      <p:sp>
        <p:nvSpPr>
          <p:cNvPr id="4" name="Titre 1"/>
          <p:cNvSpPr>
            <a:spLocks noGrp="1"/>
          </p:cNvSpPr>
          <p:nvPr>
            <p:ph type="title"/>
          </p:nvPr>
        </p:nvSpPr>
        <p:spPr>
          <a:xfrm>
            <a:off x="1847273" y="365125"/>
            <a:ext cx="8358910" cy="964911"/>
          </a:xfrm>
        </p:spPr>
        <p:txBody>
          <a:bodyPr vert="horz" lIns="91440" tIns="45720" rIns="91440" bIns="45720" rtlCol="0" anchor="ctr">
            <a:normAutofit fontScale="90000"/>
          </a:bodyPr>
          <a:lstStyle/>
          <a:p>
            <a:pPr algn="ctr"/>
            <a:r>
              <a:rPr lang="fr-FR" b="1" dirty="0" smtClean="0">
                <a:solidFill>
                  <a:schemeClr val="accent2"/>
                </a:solidFill>
              </a:rPr>
              <a:t>Traitements </a:t>
            </a:r>
            <a:r>
              <a:rPr lang="fr-FR" b="1" dirty="0">
                <a:solidFill>
                  <a:schemeClr val="accent2"/>
                </a:solidFill>
              </a:rPr>
              <a:t>des données </a:t>
            </a:r>
            <a:r>
              <a:rPr lang="fr-FR" b="1" dirty="0" smtClean="0">
                <a:solidFill>
                  <a:schemeClr val="accent2"/>
                </a:solidFill>
              </a:rPr>
              <a:t/>
            </a:r>
            <a:br>
              <a:rPr lang="fr-FR" b="1" dirty="0" smtClean="0">
                <a:solidFill>
                  <a:schemeClr val="accent2"/>
                </a:solidFill>
              </a:rPr>
            </a:br>
            <a:r>
              <a:rPr lang="fr-FR" sz="3600" b="1" dirty="0" smtClean="0">
                <a:solidFill>
                  <a:schemeClr val="accent2"/>
                </a:solidFill>
              </a:rPr>
              <a:t>Suppression des valeurs aberrantes</a:t>
            </a:r>
            <a:endParaRPr lang="fr-FR" sz="3600" b="1" dirty="0">
              <a:solidFill>
                <a:schemeClr val="accent2"/>
              </a:solidFill>
            </a:endParaRPr>
          </a:p>
        </p:txBody>
      </p:sp>
    </p:spTree>
    <p:extLst>
      <p:ext uri="{BB962C8B-B14F-4D97-AF65-F5344CB8AC3E}">
        <p14:creationId xmlns:p14="http://schemas.microsoft.com/office/powerpoint/2010/main" val="650925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fontScale="92500"/>
          </a:bodyPr>
          <a:lstStyle/>
          <a:p>
            <a:pPr marL="0" indent="0">
              <a:buNone/>
            </a:pPr>
            <a:r>
              <a:rPr lang="fr-FR" dirty="0" smtClean="0"/>
              <a:t>Après suppression des valeurs aberrantes, nous avons une table de taille : </a:t>
            </a:r>
          </a:p>
          <a:p>
            <a:pPr marL="0" indent="0">
              <a:buNone/>
            </a:pPr>
            <a:endParaRPr lang="fr-FR" dirty="0" smtClean="0"/>
          </a:p>
          <a:p>
            <a:pPr marL="0" indent="0">
              <a:buNone/>
            </a:pPr>
            <a:endParaRPr lang="fr-FR" dirty="0"/>
          </a:p>
          <a:p>
            <a:pPr marL="0" indent="0">
              <a:buNone/>
            </a:pPr>
            <a:r>
              <a:rPr lang="fr-FR" dirty="0" smtClean="0"/>
              <a:t>L’imputation des </a:t>
            </a:r>
            <a:r>
              <a:rPr lang="fr-FR" dirty="0" err="1" smtClean="0"/>
              <a:t>missings</a:t>
            </a:r>
            <a:r>
              <a:rPr lang="fr-FR" dirty="0" smtClean="0"/>
              <a:t> values s’est faite suivant 3 différentes approches : </a:t>
            </a:r>
          </a:p>
          <a:p>
            <a:pPr>
              <a:buFontTx/>
              <a:buChar char="-"/>
            </a:pPr>
            <a:r>
              <a:rPr lang="fr-FR" b="1" dirty="0">
                <a:solidFill>
                  <a:schemeClr val="accent2"/>
                </a:solidFill>
              </a:rPr>
              <a:t>La </a:t>
            </a:r>
            <a:r>
              <a:rPr lang="fr-FR" b="1" dirty="0" smtClean="0">
                <a:solidFill>
                  <a:schemeClr val="accent2"/>
                </a:solidFill>
              </a:rPr>
              <a:t>moyenne,</a:t>
            </a:r>
            <a:endParaRPr lang="fr-FR" b="1" dirty="0">
              <a:solidFill>
                <a:schemeClr val="accent2"/>
              </a:solidFill>
            </a:endParaRPr>
          </a:p>
          <a:p>
            <a:pPr>
              <a:buFontTx/>
              <a:buChar char="-"/>
            </a:pPr>
            <a:r>
              <a:rPr lang="fr-FR" b="1" dirty="0">
                <a:solidFill>
                  <a:schemeClr val="accent2"/>
                </a:solidFill>
              </a:rPr>
              <a:t>La </a:t>
            </a:r>
            <a:r>
              <a:rPr lang="fr-FR" b="1" dirty="0" smtClean="0">
                <a:solidFill>
                  <a:schemeClr val="accent2"/>
                </a:solidFill>
              </a:rPr>
              <a:t>médiane,</a:t>
            </a:r>
            <a:endParaRPr lang="fr-FR" b="1" dirty="0">
              <a:solidFill>
                <a:schemeClr val="accent2"/>
              </a:solidFill>
            </a:endParaRPr>
          </a:p>
          <a:p>
            <a:pPr>
              <a:buFontTx/>
              <a:buChar char="-"/>
            </a:pPr>
            <a:r>
              <a:rPr lang="fr-FR" b="1" dirty="0" err="1" smtClean="0">
                <a:solidFill>
                  <a:schemeClr val="accent2"/>
                </a:solidFill>
              </a:rPr>
              <a:t>IterativeImputer</a:t>
            </a:r>
            <a:r>
              <a:rPr lang="fr-FR" b="1" dirty="0" smtClean="0">
                <a:solidFill>
                  <a:schemeClr val="accent2"/>
                </a:solidFill>
              </a:rPr>
              <a:t> </a:t>
            </a:r>
            <a:r>
              <a:rPr lang="fr-FR" dirty="0"/>
              <a:t>avec l’estimateur </a:t>
            </a:r>
            <a:r>
              <a:rPr lang="fr-FR" b="1" dirty="0" err="1" smtClean="0">
                <a:solidFill>
                  <a:schemeClr val="accent2"/>
                </a:solidFill>
              </a:rPr>
              <a:t>BayesianRidge</a:t>
            </a:r>
            <a:r>
              <a:rPr lang="fr-FR" b="1" dirty="0" smtClean="0">
                <a:solidFill>
                  <a:schemeClr val="accent2"/>
                </a:solidFill>
              </a:rPr>
              <a:t>.</a:t>
            </a:r>
          </a:p>
          <a:p>
            <a:pPr>
              <a:buFontTx/>
              <a:buChar char="-"/>
            </a:pPr>
            <a:r>
              <a:rPr lang="fr-FR" dirty="0"/>
              <a:t>Par contre, il n’y pas une différence significative en terme de distribution des données </a:t>
            </a:r>
            <a:r>
              <a:rPr lang="fr-FR" dirty="0" smtClean="0"/>
              <a:t>avant et après imputation.</a:t>
            </a:r>
            <a:endParaRPr lang="fr-FR" dirty="0"/>
          </a:p>
        </p:txBody>
      </p:sp>
      <p:sp>
        <p:nvSpPr>
          <p:cNvPr id="4" name="Titre 1"/>
          <p:cNvSpPr>
            <a:spLocks noGrp="1"/>
          </p:cNvSpPr>
          <p:nvPr>
            <p:ph type="title"/>
          </p:nvPr>
        </p:nvSpPr>
        <p:spPr>
          <a:xfrm>
            <a:off x="1847273" y="365125"/>
            <a:ext cx="8358910" cy="964911"/>
          </a:xfrm>
        </p:spPr>
        <p:txBody>
          <a:bodyPr vert="horz" lIns="91440" tIns="45720" rIns="91440" bIns="45720" rtlCol="0" anchor="ctr">
            <a:normAutofit fontScale="90000"/>
          </a:bodyPr>
          <a:lstStyle/>
          <a:p>
            <a:pPr algn="ctr"/>
            <a:r>
              <a:rPr lang="fr-FR" b="1" dirty="0" smtClean="0">
                <a:solidFill>
                  <a:schemeClr val="accent2"/>
                </a:solidFill>
              </a:rPr>
              <a:t>Traitements </a:t>
            </a:r>
            <a:r>
              <a:rPr lang="fr-FR" b="1" dirty="0">
                <a:solidFill>
                  <a:schemeClr val="accent2"/>
                </a:solidFill>
              </a:rPr>
              <a:t>des données </a:t>
            </a:r>
            <a:r>
              <a:rPr lang="fr-FR" b="1" dirty="0" smtClean="0">
                <a:solidFill>
                  <a:schemeClr val="accent2"/>
                </a:solidFill>
              </a:rPr>
              <a:t/>
            </a:r>
            <a:br>
              <a:rPr lang="fr-FR" b="1" dirty="0" smtClean="0">
                <a:solidFill>
                  <a:schemeClr val="accent2"/>
                </a:solidFill>
              </a:rPr>
            </a:br>
            <a:r>
              <a:rPr lang="fr-FR" sz="3600" b="1" dirty="0" smtClean="0">
                <a:solidFill>
                  <a:schemeClr val="accent2"/>
                </a:solidFill>
              </a:rPr>
              <a:t>Imputation des valeurs manquantes</a:t>
            </a:r>
            <a:endParaRPr lang="fr-FR" sz="3600" b="1" dirty="0">
              <a:solidFill>
                <a:schemeClr val="accent2"/>
              </a:solidFill>
            </a:endParaRPr>
          </a:p>
        </p:txBody>
      </p:sp>
      <p:pic>
        <p:nvPicPr>
          <p:cNvPr id="6" name="Image 5"/>
          <p:cNvPicPr>
            <a:picLocks noChangeAspect="1"/>
          </p:cNvPicPr>
          <p:nvPr/>
        </p:nvPicPr>
        <p:blipFill>
          <a:blip r:embed="rId2"/>
          <a:stretch>
            <a:fillRect/>
          </a:stretch>
        </p:blipFill>
        <p:spPr>
          <a:xfrm>
            <a:off x="3883890" y="2340264"/>
            <a:ext cx="3302000" cy="707736"/>
          </a:xfrm>
          <a:prstGeom prst="rect">
            <a:avLst/>
          </a:prstGeom>
        </p:spPr>
      </p:pic>
    </p:spTree>
    <p:extLst>
      <p:ext uri="{BB962C8B-B14F-4D97-AF65-F5344CB8AC3E}">
        <p14:creationId xmlns:p14="http://schemas.microsoft.com/office/powerpoint/2010/main" val="2653300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pPr marL="0" indent="0">
              <a:buNone/>
            </a:pPr>
            <a:r>
              <a:rPr lang="fr-FR" dirty="0" smtClean="0"/>
              <a:t>Avec la fonction </a:t>
            </a:r>
            <a:r>
              <a:rPr lang="fr-FR" dirty="0" err="1" smtClean="0"/>
              <a:t>subplot</a:t>
            </a:r>
            <a:r>
              <a:rPr lang="fr-FR" dirty="0" smtClean="0"/>
              <a:t>, on a pu tracé les distributions côte-à-côte des données initiales et imputés pour chaque ingrédients. </a:t>
            </a:r>
          </a:p>
          <a:p>
            <a:pPr marL="0" indent="0">
              <a:buNone/>
            </a:pPr>
            <a:endParaRPr lang="fr-FR" dirty="0"/>
          </a:p>
        </p:txBody>
      </p:sp>
      <p:sp>
        <p:nvSpPr>
          <p:cNvPr id="4" name="Titre 1"/>
          <p:cNvSpPr>
            <a:spLocks noGrp="1"/>
          </p:cNvSpPr>
          <p:nvPr>
            <p:ph type="title"/>
          </p:nvPr>
        </p:nvSpPr>
        <p:spPr>
          <a:xfrm>
            <a:off x="1847273" y="365125"/>
            <a:ext cx="8358910" cy="1297420"/>
          </a:xfrm>
        </p:spPr>
        <p:txBody>
          <a:bodyPr vert="horz" lIns="91440" tIns="45720" rIns="91440" bIns="45720" rtlCol="0" anchor="ctr">
            <a:normAutofit fontScale="90000"/>
          </a:bodyPr>
          <a:lstStyle/>
          <a:p>
            <a:pPr algn="ctr"/>
            <a:r>
              <a:rPr lang="fr-FR" b="1" dirty="0" smtClean="0">
                <a:solidFill>
                  <a:schemeClr val="accent2"/>
                </a:solidFill>
              </a:rPr>
              <a:t>Traitements </a:t>
            </a:r>
            <a:r>
              <a:rPr lang="fr-FR" b="1" dirty="0">
                <a:solidFill>
                  <a:schemeClr val="accent2"/>
                </a:solidFill>
              </a:rPr>
              <a:t>des données </a:t>
            </a:r>
            <a:r>
              <a:rPr lang="fr-FR" b="1" dirty="0" smtClean="0">
                <a:solidFill>
                  <a:schemeClr val="accent2"/>
                </a:solidFill>
              </a:rPr>
              <a:t/>
            </a:r>
            <a:br>
              <a:rPr lang="fr-FR" b="1" dirty="0" smtClean="0">
                <a:solidFill>
                  <a:schemeClr val="accent2"/>
                </a:solidFill>
              </a:rPr>
            </a:br>
            <a:r>
              <a:rPr lang="fr-FR" sz="3100" b="1" dirty="0" smtClean="0">
                <a:solidFill>
                  <a:schemeClr val="accent2"/>
                </a:solidFill>
              </a:rPr>
              <a:t>Visualisation des distributions avant et après imputation : cas du </a:t>
            </a:r>
            <a:r>
              <a:rPr lang="fr-FR" sz="3100" b="1" dirty="0" smtClean="0"/>
              <a:t>sugars_100G</a:t>
            </a:r>
            <a:endParaRPr lang="fr-FR" sz="3600" b="1" dirty="0"/>
          </a:p>
        </p:txBody>
      </p:sp>
      <p:pic>
        <p:nvPicPr>
          <p:cNvPr id="6" name="Image 5"/>
          <p:cNvPicPr>
            <a:picLocks noChangeAspect="1"/>
          </p:cNvPicPr>
          <p:nvPr/>
        </p:nvPicPr>
        <p:blipFill>
          <a:blip r:embed="rId2"/>
          <a:stretch>
            <a:fillRect/>
          </a:stretch>
        </p:blipFill>
        <p:spPr>
          <a:xfrm>
            <a:off x="953006" y="2918691"/>
            <a:ext cx="10147444" cy="3545898"/>
          </a:xfrm>
          <a:prstGeom prst="rect">
            <a:avLst/>
          </a:prstGeom>
        </p:spPr>
      </p:pic>
    </p:spTree>
    <p:extLst>
      <p:ext uri="{BB962C8B-B14F-4D97-AF65-F5344CB8AC3E}">
        <p14:creationId xmlns:p14="http://schemas.microsoft.com/office/powerpoint/2010/main" val="2511051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2091" y="2849707"/>
            <a:ext cx="10515600" cy="1325563"/>
          </a:xfrm>
        </p:spPr>
        <p:txBody>
          <a:bodyPr>
            <a:normAutofit/>
          </a:bodyPr>
          <a:lstStyle/>
          <a:p>
            <a:pPr algn="ctr"/>
            <a:r>
              <a:rPr lang="fr-FR" sz="6600" b="1" dirty="0" smtClean="0">
                <a:solidFill>
                  <a:schemeClr val="accent2"/>
                </a:solidFill>
                <a:latin typeface="Bahnschrift SemiBold" panose="020B0502040204020203" pitchFamily="34" charset="0"/>
              </a:rPr>
              <a:t>Analyse des données</a:t>
            </a:r>
            <a:endParaRPr lang="fr-FR" sz="6600" dirty="0">
              <a:latin typeface="Bahnschrift SemiBold" panose="020B0502040204020203" pitchFamily="34" charset="0"/>
            </a:endParaRPr>
          </a:p>
        </p:txBody>
      </p:sp>
    </p:spTree>
    <p:extLst>
      <p:ext uri="{BB962C8B-B14F-4D97-AF65-F5344CB8AC3E}">
        <p14:creationId xmlns:p14="http://schemas.microsoft.com/office/powerpoint/2010/main" val="3806629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a:solidFill>
                  <a:schemeClr val="accent2"/>
                </a:solidFill>
                <a:latin typeface="Bahnschrift SemiBold" panose="020B0502040204020203" pitchFamily="34" charset="0"/>
              </a:rPr>
              <a:t>Analyse des données</a:t>
            </a:r>
            <a:endParaRPr lang="fr-FR" dirty="0"/>
          </a:p>
        </p:txBody>
      </p:sp>
      <p:sp>
        <p:nvSpPr>
          <p:cNvPr id="3" name="Espace réservé du contenu 2"/>
          <p:cNvSpPr>
            <a:spLocks noGrp="1"/>
          </p:cNvSpPr>
          <p:nvPr>
            <p:ph idx="1"/>
          </p:nvPr>
        </p:nvSpPr>
        <p:spPr>
          <a:xfrm>
            <a:off x="838200" y="1967346"/>
            <a:ext cx="10515600" cy="3851563"/>
          </a:xfrm>
        </p:spPr>
        <p:txBody>
          <a:bodyPr/>
          <a:lstStyle/>
          <a:p>
            <a:pPr marL="0" indent="0">
              <a:lnSpc>
                <a:spcPct val="150000"/>
              </a:lnSpc>
              <a:buNone/>
            </a:pPr>
            <a:r>
              <a:rPr lang="fr-FR" dirty="0" smtClean="0"/>
              <a:t>Au vue des types de variables, différentes analyses on été effectuées.</a:t>
            </a:r>
            <a:endParaRPr lang="fr-FR" dirty="0"/>
          </a:p>
          <a:p>
            <a:pPr marL="0" indent="0">
              <a:lnSpc>
                <a:spcPct val="150000"/>
              </a:lnSpc>
              <a:buNone/>
            </a:pPr>
            <a:r>
              <a:rPr lang="fr-FR" dirty="0" smtClean="0"/>
              <a:t>Ci-dessous les différentes analyses effectuées : </a:t>
            </a:r>
          </a:p>
          <a:p>
            <a:r>
              <a:rPr lang="fr-FR" b="1" dirty="0" err="1" smtClean="0">
                <a:solidFill>
                  <a:schemeClr val="accent2"/>
                </a:solidFill>
              </a:rPr>
              <a:t>Univariée</a:t>
            </a:r>
            <a:r>
              <a:rPr lang="fr-FR" b="1" dirty="0" smtClean="0">
                <a:solidFill>
                  <a:schemeClr val="accent2"/>
                </a:solidFill>
              </a:rPr>
              <a:t>,</a:t>
            </a:r>
            <a:endParaRPr lang="fr-FR" dirty="0" smtClean="0"/>
          </a:p>
          <a:p>
            <a:r>
              <a:rPr lang="fr-FR" b="1" dirty="0" err="1" smtClean="0">
                <a:solidFill>
                  <a:schemeClr val="accent2"/>
                </a:solidFill>
              </a:rPr>
              <a:t>Bivariée</a:t>
            </a:r>
            <a:r>
              <a:rPr lang="fr-FR" b="1" dirty="0" smtClean="0">
                <a:solidFill>
                  <a:schemeClr val="accent2"/>
                </a:solidFill>
              </a:rPr>
              <a:t>,</a:t>
            </a:r>
            <a:endParaRPr lang="fr-FR" b="1" dirty="0">
              <a:solidFill>
                <a:schemeClr val="accent2"/>
              </a:solidFill>
            </a:endParaRPr>
          </a:p>
          <a:p>
            <a:r>
              <a:rPr lang="fr-FR" b="1" dirty="0">
                <a:solidFill>
                  <a:schemeClr val="accent2"/>
                </a:solidFill>
              </a:rPr>
              <a:t>Tests </a:t>
            </a:r>
            <a:r>
              <a:rPr lang="fr-FR" b="1" dirty="0" smtClean="0">
                <a:solidFill>
                  <a:schemeClr val="accent2"/>
                </a:solidFill>
              </a:rPr>
              <a:t>statistiques,</a:t>
            </a:r>
            <a:endParaRPr lang="fr-FR" b="1" dirty="0">
              <a:solidFill>
                <a:schemeClr val="accent2"/>
              </a:solidFill>
            </a:endParaRPr>
          </a:p>
          <a:p>
            <a:r>
              <a:rPr lang="fr-FR" b="1" dirty="0">
                <a:solidFill>
                  <a:schemeClr val="accent2"/>
                </a:solidFill>
              </a:rPr>
              <a:t>Multivariée (PCA</a:t>
            </a:r>
            <a:r>
              <a:rPr lang="fr-FR" b="1" dirty="0" smtClean="0">
                <a:solidFill>
                  <a:schemeClr val="accent2"/>
                </a:solidFill>
              </a:rPr>
              <a:t>).</a:t>
            </a:r>
            <a:endParaRPr lang="fr-FR" b="1" dirty="0">
              <a:solidFill>
                <a:schemeClr val="accent2"/>
              </a:solidFill>
            </a:endParaRPr>
          </a:p>
          <a:p>
            <a:endParaRPr lang="fr-FR" dirty="0"/>
          </a:p>
        </p:txBody>
      </p:sp>
    </p:spTree>
    <p:extLst>
      <p:ext uri="{BB962C8B-B14F-4D97-AF65-F5344CB8AC3E}">
        <p14:creationId xmlns:p14="http://schemas.microsoft.com/office/powerpoint/2010/main" val="3672964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solidFill>
                  <a:schemeClr val="accent2"/>
                </a:solidFill>
                <a:latin typeface="Bahnschrift Condensed" panose="020B0502040204020203" pitchFamily="34" charset="0"/>
              </a:rPr>
              <a:t>Analyse est </a:t>
            </a:r>
            <a:r>
              <a:rPr lang="fr-FR" b="1" dirty="0" err="1" smtClean="0">
                <a:solidFill>
                  <a:schemeClr val="accent2"/>
                </a:solidFill>
                <a:latin typeface="Bahnschrift Condensed" panose="020B0502040204020203" pitchFamily="34" charset="0"/>
              </a:rPr>
              <a:t>Univariée</a:t>
            </a:r>
            <a:endParaRPr lang="fr-FR" dirty="0">
              <a:latin typeface="Bahnschrift Condensed" panose="020B0502040204020203" pitchFamily="34" charset="0"/>
            </a:endParaRPr>
          </a:p>
        </p:txBody>
      </p:sp>
      <p:sp>
        <p:nvSpPr>
          <p:cNvPr id="3" name="Espace réservé du contenu 2"/>
          <p:cNvSpPr>
            <a:spLocks noGrp="1"/>
          </p:cNvSpPr>
          <p:nvPr>
            <p:ph idx="1"/>
          </p:nvPr>
        </p:nvSpPr>
        <p:spPr>
          <a:xfrm>
            <a:off x="838199" y="1825625"/>
            <a:ext cx="10702491" cy="4351338"/>
          </a:xfrm>
        </p:spPr>
        <p:txBody>
          <a:bodyPr>
            <a:normAutofit fontScale="92500" lnSpcReduction="10000"/>
          </a:bodyPr>
          <a:lstStyle/>
          <a:p>
            <a:pPr marL="0" indent="0">
              <a:buNone/>
            </a:pPr>
            <a:r>
              <a:rPr lang="fr-FR" dirty="0" smtClean="0"/>
              <a:t>Les caractéristiques de tendance centrale sont étudiées </a:t>
            </a:r>
            <a:r>
              <a:rPr lang="fr-FR" dirty="0" smtClean="0"/>
              <a:t>sur chacune </a:t>
            </a:r>
            <a:r>
              <a:rPr lang="fr-FR" dirty="0" smtClean="0"/>
              <a:t>des variables pertinentes : </a:t>
            </a:r>
          </a:p>
          <a:p>
            <a:pPr>
              <a:buFont typeface="Wingdings" panose="05000000000000000000" pitchFamily="2" charset="2"/>
              <a:buChar char="§"/>
            </a:pPr>
            <a:r>
              <a:rPr lang="fr-FR" b="1" dirty="0" smtClean="0">
                <a:solidFill>
                  <a:schemeClr val="accent2"/>
                </a:solidFill>
              </a:rPr>
              <a:t>Pour les variables catégorielles : </a:t>
            </a:r>
          </a:p>
          <a:p>
            <a:pPr marL="0" indent="0">
              <a:buNone/>
            </a:pPr>
            <a:endParaRPr lang="fr-FR" dirty="0" smtClean="0"/>
          </a:p>
          <a:p>
            <a:pPr marL="0" indent="0">
              <a:buNone/>
            </a:pPr>
            <a:endParaRPr lang="fr-FR" dirty="0"/>
          </a:p>
          <a:p>
            <a:pPr marL="0" indent="0">
              <a:buNone/>
            </a:pPr>
            <a:endParaRPr lang="fr-FR" dirty="0" smtClean="0"/>
          </a:p>
          <a:p>
            <a:pPr marL="0" indent="0">
              <a:buNone/>
            </a:pPr>
            <a:endParaRPr lang="fr-FR" dirty="0" smtClean="0"/>
          </a:p>
          <a:p>
            <a:pPr>
              <a:buFont typeface="Wingdings" panose="05000000000000000000" pitchFamily="2" charset="2"/>
              <a:buChar char="ü"/>
            </a:pPr>
            <a:r>
              <a:rPr lang="fr-FR" dirty="0"/>
              <a:t> </a:t>
            </a:r>
            <a:r>
              <a:rPr lang="fr-FR" dirty="0" smtClean="0"/>
              <a:t>Le produit </a:t>
            </a:r>
            <a:r>
              <a:rPr lang="fr-FR" dirty="0" smtClean="0"/>
              <a:t>le plus fréquent est le </a:t>
            </a:r>
            <a:r>
              <a:rPr lang="fr-FR" sz="2600" b="1" dirty="0" err="1" smtClean="0">
                <a:solidFill>
                  <a:schemeClr val="accent2"/>
                </a:solidFill>
              </a:rPr>
              <a:t>creamy</a:t>
            </a:r>
            <a:r>
              <a:rPr lang="fr-FR" sz="2600" b="1" dirty="0" smtClean="0">
                <a:solidFill>
                  <a:schemeClr val="accent2"/>
                </a:solidFill>
              </a:rPr>
              <a:t> </a:t>
            </a:r>
            <a:r>
              <a:rPr lang="fr-FR" sz="2600" b="1" dirty="0" err="1" smtClean="0">
                <a:solidFill>
                  <a:schemeClr val="accent2"/>
                </a:solidFill>
              </a:rPr>
              <a:t>Peanut</a:t>
            </a:r>
            <a:r>
              <a:rPr lang="fr-FR" sz="2600" b="1" dirty="0" smtClean="0">
                <a:solidFill>
                  <a:schemeClr val="accent2"/>
                </a:solidFill>
              </a:rPr>
              <a:t> </a:t>
            </a:r>
            <a:r>
              <a:rPr lang="fr-FR" sz="2600" b="1" dirty="0">
                <a:solidFill>
                  <a:schemeClr val="accent2"/>
                </a:solidFill>
              </a:rPr>
              <a:t>Butter</a:t>
            </a:r>
            <a:r>
              <a:rPr lang="fr-FR" dirty="0" smtClean="0"/>
              <a:t>, la plus part de nos produits viennent des </a:t>
            </a:r>
            <a:r>
              <a:rPr lang="fr-FR" sz="2600" b="1" dirty="0">
                <a:solidFill>
                  <a:schemeClr val="accent2"/>
                </a:solidFill>
              </a:rPr>
              <a:t>USA</a:t>
            </a:r>
            <a:r>
              <a:rPr lang="fr-FR" dirty="0" smtClean="0"/>
              <a:t>. La plupart des produits dont la catégorie est connue appartiennent à la classe </a:t>
            </a:r>
            <a:r>
              <a:rPr lang="fr-FR" sz="2600" b="1" dirty="0" err="1">
                <a:solidFill>
                  <a:schemeClr val="accent2"/>
                </a:solidFill>
              </a:rPr>
              <a:t>Sugary</a:t>
            </a:r>
            <a:r>
              <a:rPr lang="fr-FR" sz="2600" b="1" dirty="0">
                <a:solidFill>
                  <a:schemeClr val="accent2"/>
                </a:solidFill>
              </a:rPr>
              <a:t> snacks</a:t>
            </a:r>
            <a:r>
              <a:rPr lang="fr-FR" dirty="0" smtClean="0"/>
              <a:t>, et le </a:t>
            </a:r>
            <a:r>
              <a:rPr lang="fr-FR" dirty="0" err="1" smtClean="0"/>
              <a:t>nutrition_grade</a:t>
            </a:r>
            <a:r>
              <a:rPr lang="fr-FR" dirty="0" smtClean="0"/>
              <a:t> mode est le </a:t>
            </a:r>
            <a:r>
              <a:rPr lang="fr-FR" sz="2600" b="1" dirty="0">
                <a:solidFill>
                  <a:schemeClr val="accent2"/>
                </a:solidFill>
              </a:rPr>
              <a:t>« d »</a:t>
            </a:r>
          </a:p>
        </p:txBody>
      </p:sp>
      <p:pic>
        <p:nvPicPr>
          <p:cNvPr id="4" name="Image 3"/>
          <p:cNvPicPr>
            <a:picLocks noChangeAspect="1"/>
          </p:cNvPicPr>
          <p:nvPr/>
        </p:nvPicPr>
        <p:blipFill>
          <a:blip r:embed="rId2"/>
          <a:stretch>
            <a:fillRect/>
          </a:stretch>
        </p:blipFill>
        <p:spPr>
          <a:xfrm>
            <a:off x="937418" y="3094959"/>
            <a:ext cx="5350018" cy="1431636"/>
          </a:xfrm>
          <a:prstGeom prst="rect">
            <a:avLst/>
          </a:prstGeom>
        </p:spPr>
      </p:pic>
      <p:pic>
        <p:nvPicPr>
          <p:cNvPr id="7" name="Image 6"/>
          <p:cNvPicPr>
            <a:picLocks noChangeAspect="1"/>
          </p:cNvPicPr>
          <p:nvPr/>
        </p:nvPicPr>
        <p:blipFill>
          <a:blip r:embed="rId3"/>
          <a:stretch>
            <a:fillRect/>
          </a:stretch>
        </p:blipFill>
        <p:spPr>
          <a:xfrm>
            <a:off x="6386655" y="2338939"/>
            <a:ext cx="4848225" cy="2264658"/>
          </a:xfrm>
          <a:prstGeom prst="rect">
            <a:avLst/>
          </a:prstGeom>
          <a:ln w="3175"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400404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smtClean="0">
                <a:solidFill>
                  <a:schemeClr val="accent2"/>
                </a:solidFill>
                <a:latin typeface="Bahnschrift Condensed" panose="020B0502040204020203" pitchFamily="34" charset="0"/>
              </a:rPr>
              <a:t>Analyse est </a:t>
            </a:r>
            <a:r>
              <a:rPr lang="fr-FR" b="1" dirty="0" err="1" smtClean="0">
                <a:solidFill>
                  <a:schemeClr val="accent2"/>
                </a:solidFill>
                <a:latin typeface="Bahnschrift Condensed" panose="020B0502040204020203" pitchFamily="34" charset="0"/>
              </a:rPr>
              <a:t>Univariée</a:t>
            </a:r>
            <a:endParaRPr lang="fr-FR" dirty="0">
              <a:latin typeface="Bahnschrift Condensed" panose="020B0502040204020203" pitchFamily="34" charset="0"/>
            </a:endParaRPr>
          </a:p>
        </p:txBody>
      </p:sp>
      <p:sp>
        <p:nvSpPr>
          <p:cNvPr id="3" name="Espace réservé du contenu 2"/>
          <p:cNvSpPr>
            <a:spLocks noGrp="1"/>
          </p:cNvSpPr>
          <p:nvPr>
            <p:ph idx="1"/>
          </p:nvPr>
        </p:nvSpPr>
        <p:spPr>
          <a:xfrm>
            <a:off x="166255" y="1468582"/>
            <a:ext cx="11748654" cy="5153891"/>
          </a:xfrm>
        </p:spPr>
        <p:txBody>
          <a:bodyPr>
            <a:normAutofit/>
          </a:bodyPr>
          <a:lstStyle/>
          <a:p>
            <a:pPr>
              <a:buFont typeface="Wingdings" panose="05000000000000000000" pitchFamily="2" charset="2"/>
              <a:buChar char="§"/>
            </a:pPr>
            <a:r>
              <a:rPr lang="fr-FR" sz="2400" b="1" dirty="0">
                <a:solidFill>
                  <a:schemeClr val="accent2"/>
                </a:solidFill>
              </a:rPr>
              <a:t>Pour les variables </a:t>
            </a:r>
            <a:r>
              <a:rPr lang="fr-FR" sz="2400" b="1" dirty="0" smtClean="0">
                <a:solidFill>
                  <a:schemeClr val="accent2"/>
                </a:solidFill>
              </a:rPr>
              <a:t>continues :</a:t>
            </a:r>
          </a:p>
          <a:p>
            <a:pPr>
              <a:buFont typeface="Wingdings" panose="05000000000000000000" pitchFamily="2" charset="2"/>
              <a:buChar char="§"/>
            </a:pPr>
            <a:endParaRPr lang="fr-FR" sz="2400" b="1" dirty="0">
              <a:solidFill>
                <a:schemeClr val="accent2"/>
              </a:solidFill>
            </a:endParaRPr>
          </a:p>
          <a:p>
            <a:pPr>
              <a:buFont typeface="Wingdings" panose="05000000000000000000" pitchFamily="2" charset="2"/>
              <a:buChar char="§"/>
            </a:pPr>
            <a:endParaRPr lang="fr-FR" sz="2400" b="1" dirty="0" smtClean="0">
              <a:solidFill>
                <a:schemeClr val="accent2"/>
              </a:solidFill>
            </a:endParaRPr>
          </a:p>
          <a:p>
            <a:pPr>
              <a:buFont typeface="Wingdings" panose="05000000000000000000" pitchFamily="2" charset="2"/>
              <a:buChar char="§"/>
            </a:pPr>
            <a:endParaRPr lang="fr-FR" sz="2400" b="1" dirty="0">
              <a:solidFill>
                <a:schemeClr val="accent2"/>
              </a:solidFill>
            </a:endParaRPr>
          </a:p>
          <a:p>
            <a:pPr>
              <a:buFont typeface="Wingdings" panose="05000000000000000000" pitchFamily="2" charset="2"/>
              <a:buChar char="§"/>
            </a:pPr>
            <a:endParaRPr lang="fr-FR" sz="2400" b="1" dirty="0" smtClean="0">
              <a:solidFill>
                <a:schemeClr val="accent2"/>
              </a:solidFill>
            </a:endParaRPr>
          </a:p>
          <a:p>
            <a:pPr>
              <a:buFont typeface="Wingdings" panose="05000000000000000000" pitchFamily="2" charset="2"/>
              <a:buChar char="§"/>
            </a:pPr>
            <a:endParaRPr lang="fr-FR" sz="2400" b="1" dirty="0">
              <a:solidFill>
                <a:schemeClr val="accent2"/>
              </a:solidFill>
            </a:endParaRPr>
          </a:p>
          <a:p>
            <a:pPr marL="0" indent="0">
              <a:buNone/>
            </a:pPr>
            <a:endParaRPr lang="fr-FR" sz="2600" dirty="0" smtClean="0"/>
          </a:p>
          <a:p>
            <a:pPr marL="0" indent="0">
              <a:buNone/>
            </a:pPr>
            <a:r>
              <a:rPr lang="fr-FR" sz="2600" dirty="0" smtClean="0"/>
              <a:t>Cette </a:t>
            </a:r>
            <a:r>
              <a:rPr lang="fr-FR" sz="2600" dirty="0"/>
              <a:t>description nous rassure sur le fait qu’il n’y a plus de valeurs aberrantes. </a:t>
            </a:r>
            <a:endParaRPr lang="fr-FR" sz="2600" dirty="0" smtClean="0"/>
          </a:p>
          <a:p>
            <a:pPr marL="0" indent="0">
              <a:buNone/>
            </a:pPr>
            <a:r>
              <a:rPr lang="fr-FR" sz="2600" dirty="0" smtClean="0"/>
              <a:t>On </a:t>
            </a:r>
            <a:r>
              <a:rPr lang="fr-FR" sz="2600" dirty="0"/>
              <a:t>voit également que nos produit sont en moyenne plus concentrés en </a:t>
            </a:r>
            <a:r>
              <a:rPr lang="fr-FR" sz="2400" b="1" dirty="0">
                <a:solidFill>
                  <a:schemeClr val="accent2"/>
                </a:solidFill>
              </a:rPr>
              <a:t>sucre et en graisse</a:t>
            </a:r>
            <a:r>
              <a:rPr lang="fr-FR" sz="2600" dirty="0"/>
              <a:t>, la contenance en </a:t>
            </a:r>
            <a:r>
              <a:rPr lang="fr-FR" sz="2400" b="1" dirty="0" err="1">
                <a:solidFill>
                  <a:schemeClr val="accent2"/>
                </a:solidFill>
              </a:rPr>
              <a:t>cholesterol</a:t>
            </a:r>
            <a:r>
              <a:rPr lang="fr-FR" sz="2600" dirty="0"/>
              <a:t> est quasiment nulle et le </a:t>
            </a:r>
            <a:r>
              <a:rPr lang="fr-FR" sz="2400" b="1" dirty="0">
                <a:solidFill>
                  <a:schemeClr val="accent2"/>
                </a:solidFill>
              </a:rPr>
              <a:t>nutriscore</a:t>
            </a:r>
            <a:r>
              <a:rPr lang="fr-FR" sz="2600" dirty="0"/>
              <a:t> vaut en moyenne </a:t>
            </a:r>
            <a:r>
              <a:rPr lang="fr-FR" sz="2400" b="1" dirty="0" smtClean="0">
                <a:solidFill>
                  <a:schemeClr val="accent2"/>
                </a:solidFill>
              </a:rPr>
              <a:t>9,47.  </a:t>
            </a:r>
          </a:p>
          <a:p>
            <a:pPr marL="0" indent="0">
              <a:buNone/>
            </a:pPr>
            <a:endParaRPr lang="fr-FR" sz="2400" b="1" dirty="0" smtClean="0">
              <a:solidFill>
                <a:schemeClr val="accent2"/>
              </a:solidFill>
            </a:endParaRPr>
          </a:p>
          <a:p>
            <a:pPr marL="0" indent="0">
              <a:buNone/>
            </a:pPr>
            <a:endParaRPr lang="fr-FR" sz="2600" b="1" dirty="0">
              <a:solidFill>
                <a:schemeClr val="accent2"/>
              </a:solidFill>
            </a:endParaRPr>
          </a:p>
        </p:txBody>
      </p:sp>
      <p:pic>
        <p:nvPicPr>
          <p:cNvPr id="5" name="Image 4"/>
          <p:cNvPicPr>
            <a:picLocks noChangeAspect="1"/>
          </p:cNvPicPr>
          <p:nvPr/>
        </p:nvPicPr>
        <p:blipFill>
          <a:blip r:embed="rId2"/>
          <a:stretch>
            <a:fillRect/>
          </a:stretch>
        </p:blipFill>
        <p:spPr>
          <a:xfrm>
            <a:off x="319664" y="2036908"/>
            <a:ext cx="5231391" cy="1919287"/>
          </a:xfrm>
          <a:prstGeom prst="rect">
            <a:avLst/>
          </a:prstGeom>
        </p:spPr>
      </p:pic>
      <p:pic>
        <p:nvPicPr>
          <p:cNvPr id="7" name="Image 6"/>
          <p:cNvPicPr>
            <a:picLocks noChangeAspect="1"/>
          </p:cNvPicPr>
          <p:nvPr/>
        </p:nvPicPr>
        <p:blipFill>
          <a:blip r:embed="rId3"/>
          <a:stretch>
            <a:fillRect/>
          </a:stretch>
        </p:blipFill>
        <p:spPr>
          <a:xfrm>
            <a:off x="5704464" y="1615574"/>
            <a:ext cx="6038721" cy="2761954"/>
          </a:xfrm>
          <a:prstGeom prst="rect">
            <a:avLst/>
          </a:prstGeom>
        </p:spPr>
      </p:pic>
    </p:spTree>
    <p:extLst>
      <p:ext uri="{BB962C8B-B14F-4D97-AF65-F5344CB8AC3E}">
        <p14:creationId xmlns:p14="http://schemas.microsoft.com/office/powerpoint/2010/main" val="9725821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05063" y="297748"/>
            <a:ext cx="10515600" cy="1325563"/>
          </a:xfrm>
        </p:spPr>
        <p:txBody>
          <a:bodyPr/>
          <a:lstStyle/>
          <a:p>
            <a:pPr algn="ctr"/>
            <a:r>
              <a:rPr lang="fr-FR" b="1" dirty="0" smtClean="0">
                <a:solidFill>
                  <a:schemeClr val="accent2"/>
                </a:solidFill>
                <a:latin typeface="Bahnschrift Condensed" panose="020B0502040204020203" pitchFamily="34" charset="0"/>
              </a:rPr>
              <a:t>Analyse est </a:t>
            </a:r>
            <a:r>
              <a:rPr lang="fr-FR" b="1" dirty="0" err="1" smtClean="0">
                <a:solidFill>
                  <a:schemeClr val="accent2"/>
                </a:solidFill>
                <a:latin typeface="Bahnschrift Condensed" panose="020B0502040204020203" pitchFamily="34" charset="0"/>
              </a:rPr>
              <a:t>Bivariée</a:t>
            </a:r>
            <a:endParaRPr lang="fr-FR" dirty="0">
              <a:latin typeface="Bahnschrift Condensed" panose="020B0502040204020203" pitchFamily="34" charset="0"/>
            </a:endParaRPr>
          </a:p>
        </p:txBody>
      </p:sp>
      <p:sp>
        <p:nvSpPr>
          <p:cNvPr id="3" name="Espace réservé du contenu 2"/>
          <p:cNvSpPr>
            <a:spLocks noGrp="1"/>
          </p:cNvSpPr>
          <p:nvPr>
            <p:ph idx="1"/>
          </p:nvPr>
        </p:nvSpPr>
        <p:spPr>
          <a:xfrm>
            <a:off x="166255" y="1468582"/>
            <a:ext cx="11748654" cy="5153891"/>
          </a:xfrm>
        </p:spPr>
        <p:txBody>
          <a:bodyPr>
            <a:normAutofit/>
          </a:bodyPr>
          <a:lstStyle/>
          <a:p>
            <a:pPr marL="0" indent="0">
              <a:buNone/>
            </a:pPr>
            <a:r>
              <a:rPr lang="fr-FR" sz="2600" b="1" dirty="0" smtClean="0"/>
              <a:t>En ce qui concerne</a:t>
            </a:r>
            <a:r>
              <a:rPr lang="fr-FR" sz="2600" dirty="0"/>
              <a:t> </a:t>
            </a:r>
            <a:r>
              <a:rPr lang="fr-FR" sz="2600" b="1" dirty="0" smtClean="0"/>
              <a:t>les analyses vars</a:t>
            </a:r>
            <a:r>
              <a:rPr lang="fr-FR" sz="2600" b="1" dirty="0" smtClean="0">
                <a:solidFill>
                  <a:schemeClr val="accent2"/>
                </a:solidFill>
              </a:rPr>
              <a:t> continues vs continues : </a:t>
            </a:r>
          </a:p>
          <a:p>
            <a:pPr marL="0" indent="0">
              <a:buNone/>
            </a:pPr>
            <a:endParaRPr lang="fr-FR" sz="2600" b="1" dirty="0" smtClean="0">
              <a:solidFill>
                <a:schemeClr val="accent2"/>
              </a:solidFill>
            </a:endParaRPr>
          </a:p>
          <a:p>
            <a:pPr marL="0" indent="0">
              <a:buNone/>
            </a:pPr>
            <a:endParaRPr lang="fr-FR" sz="2600" b="1" dirty="0">
              <a:solidFill>
                <a:schemeClr val="accent2"/>
              </a:solidFill>
            </a:endParaRPr>
          </a:p>
          <a:p>
            <a:pPr marL="0" indent="0">
              <a:buNone/>
            </a:pPr>
            <a:endParaRPr lang="fr-FR" sz="2600" b="1" dirty="0" smtClean="0">
              <a:solidFill>
                <a:schemeClr val="accent2"/>
              </a:solidFill>
            </a:endParaRPr>
          </a:p>
          <a:p>
            <a:pPr marL="0" indent="0">
              <a:buNone/>
            </a:pPr>
            <a:endParaRPr lang="fr-FR" sz="2600" b="1" dirty="0">
              <a:solidFill>
                <a:schemeClr val="accent2"/>
              </a:solidFill>
            </a:endParaRPr>
          </a:p>
          <a:p>
            <a:pPr marL="0" indent="0">
              <a:buNone/>
            </a:pPr>
            <a:endParaRPr lang="fr-FR" sz="2600" b="1" dirty="0" smtClean="0">
              <a:solidFill>
                <a:schemeClr val="accent2"/>
              </a:solidFill>
            </a:endParaRPr>
          </a:p>
          <a:p>
            <a:pPr marL="0" indent="0">
              <a:buNone/>
            </a:pPr>
            <a:endParaRPr lang="fr-FR" sz="2600" b="1" dirty="0" smtClean="0">
              <a:solidFill>
                <a:schemeClr val="accent2"/>
              </a:solidFill>
            </a:endParaRPr>
          </a:p>
          <a:p>
            <a:pPr marL="0" indent="0">
              <a:buNone/>
            </a:pPr>
            <a:r>
              <a:rPr lang="fr-FR" b="1" dirty="0"/>
              <a:t>Toutes les variables continues sont corrélées au </a:t>
            </a:r>
            <a:r>
              <a:rPr lang="fr-FR" sz="2600" b="1" dirty="0" smtClean="0">
                <a:solidFill>
                  <a:schemeClr val="accent2"/>
                </a:solidFill>
              </a:rPr>
              <a:t>nutriscore </a:t>
            </a:r>
            <a:r>
              <a:rPr lang="fr-FR" b="1" dirty="0"/>
              <a:t>sauf le </a:t>
            </a:r>
            <a:r>
              <a:rPr lang="fr-FR" sz="2600" b="1" dirty="0" smtClean="0">
                <a:solidFill>
                  <a:schemeClr val="accent2"/>
                </a:solidFill>
              </a:rPr>
              <a:t>cholestérol.</a:t>
            </a:r>
          </a:p>
          <a:p>
            <a:pPr marL="0" indent="0">
              <a:buNone/>
            </a:pPr>
            <a:r>
              <a:rPr lang="fr-FR" b="1" dirty="0"/>
              <a:t>Cela laisse apparaitre le niveau d'importance du nutriscore par rapport à notre idée d'application.</a:t>
            </a:r>
          </a:p>
          <a:p>
            <a:pPr marL="0" indent="0">
              <a:buNone/>
            </a:pPr>
            <a:endParaRPr lang="fr-FR" sz="2600" b="1" dirty="0">
              <a:solidFill>
                <a:schemeClr val="accent2"/>
              </a:solidFill>
            </a:endParaRPr>
          </a:p>
        </p:txBody>
      </p:sp>
      <p:pic>
        <p:nvPicPr>
          <p:cNvPr id="4" name="Image 3"/>
          <p:cNvPicPr>
            <a:picLocks noChangeAspect="1"/>
          </p:cNvPicPr>
          <p:nvPr/>
        </p:nvPicPr>
        <p:blipFill>
          <a:blip r:embed="rId2"/>
          <a:stretch>
            <a:fillRect/>
          </a:stretch>
        </p:blipFill>
        <p:spPr>
          <a:xfrm>
            <a:off x="1102143" y="2458553"/>
            <a:ext cx="8543925" cy="2152650"/>
          </a:xfrm>
          <a:prstGeom prst="rect">
            <a:avLst/>
          </a:prstGeom>
        </p:spPr>
      </p:pic>
    </p:spTree>
    <p:extLst>
      <p:ext uri="{BB962C8B-B14F-4D97-AF65-F5344CB8AC3E}">
        <p14:creationId xmlns:p14="http://schemas.microsoft.com/office/powerpoint/2010/main" val="3262475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05063" y="297748"/>
            <a:ext cx="10515600" cy="1325563"/>
          </a:xfrm>
        </p:spPr>
        <p:txBody>
          <a:bodyPr/>
          <a:lstStyle/>
          <a:p>
            <a:pPr algn="ctr"/>
            <a:r>
              <a:rPr lang="fr-FR" b="1" dirty="0" smtClean="0">
                <a:solidFill>
                  <a:schemeClr val="accent2"/>
                </a:solidFill>
                <a:latin typeface="Bahnschrift Condensed" panose="020B0502040204020203" pitchFamily="34" charset="0"/>
              </a:rPr>
              <a:t>Analyse est </a:t>
            </a:r>
            <a:r>
              <a:rPr lang="fr-FR" b="1" dirty="0" err="1" smtClean="0">
                <a:solidFill>
                  <a:schemeClr val="accent2"/>
                </a:solidFill>
                <a:latin typeface="Bahnschrift Condensed" panose="020B0502040204020203" pitchFamily="34" charset="0"/>
              </a:rPr>
              <a:t>Bivariée</a:t>
            </a:r>
            <a:endParaRPr lang="fr-FR" dirty="0">
              <a:latin typeface="Bahnschrift Condensed" panose="020B0502040204020203" pitchFamily="34" charset="0"/>
            </a:endParaRPr>
          </a:p>
        </p:txBody>
      </p:sp>
      <p:sp>
        <p:nvSpPr>
          <p:cNvPr id="3" name="Espace réservé du contenu 2"/>
          <p:cNvSpPr>
            <a:spLocks noGrp="1"/>
          </p:cNvSpPr>
          <p:nvPr>
            <p:ph idx="1"/>
          </p:nvPr>
        </p:nvSpPr>
        <p:spPr>
          <a:xfrm>
            <a:off x="166255" y="1468582"/>
            <a:ext cx="11748654" cy="5153891"/>
          </a:xfrm>
        </p:spPr>
        <p:txBody>
          <a:bodyPr>
            <a:normAutofit/>
          </a:bodyPr>
          <a:lstStyle/>
          <a:p>
            <a:pPr marL="0" indent="0">
              <a:buNone/>
            </a:pPr>
            <a:r>
              <a:rPr lang="fr-FR" sz="2600" b="1" dirty="0" smtClean="0"/>
              <a:t>En ce qui concerne</a:t>
            </a:r>
            <a:r>
              <a:rPr lang="fr-FR" sz="2600" dirty="0" smtClean="0"/>
              <a:t> </a:t>
            </a:r>
            <a:r>
              <a:rPr lang="fr-FR" sz="2600" b="1" dirty="0" smtClean="0"/>
              <a:t>l’analyse vars</a:t>
            </a:r>
            <a:r>
              <a:rPr lang="fr-FR" sz="2600" b="1" dirty="0" smtClean="0">
                <a:solidFill>
                  <a:schemeClr val="accent2"/>
                </a:solidFill>
              </a:rPr>
              <a:t> catégorielles vs </a:t>
            </a:r>
            <a:r>
              <a:rPr lang="fr-FR" sz="2600" b="1" dirty="0">
                <a:solidFill>
                  <a:schemeClr val="accent2"/>
                </a:solidFill>
              </a:rPr>
              <a:t>catégorielles</a:t>
            </a:r>
            <a:r>
              <a:rPr lang="fr-FR" sz="2600" b="1" dirty="0" smtClean="0">
                <a:solidFill>
                  <a:schemeClr val="accent2"/>
                </a:solidFill>
              </a:rPr>
              <a:t> : </a:t>
            </a:r>
          </a:p>
          <a:p>
            <a:pPr marL="0" indent="0">
              <a:buNone/>
            </a:pPr>
            <a:endParaRPr lang="fr-FR" sz="2600" b="1" dirty="0" smtClean="0">
              <a:solidFill>
                <a:schemeClr val="accent2"/>
              </a:solidFill>
            </a:endParaRPr>
          </a:p>
          <a:p>
            <a:pPr marL="0" indent="0">
              <a:buNone/>
            </a:pPr>
            <a:endParaRPr lang="fr-FR" sz="2600" b="1" dirty="0" smtClean="0">
              <a:solidFill>
                <a:schemeClr val="accent2"/>
              </a:solidFill>
            </a:endParaRPr>
          </a:p>
          <a:p>
            <a:pPr marL="0" indent="0">
              <a:buNone/>
            </a:pPr>
            <a:endParaRPr lang="fr-FR" sz="2600" b="1" dirty="0" smtClean="0">
              <a:solidFill>
                <a:schemeClr val="accent2"/>
              </a:solidFill>
            </a:endParaRPr>
          </a:p>
          <a:p>
            <a:pPr marL="0" indent="0">
              <a:buNone/>
            </a:pPr>
            <a:endParaRPr lang="fr-FR" sz="2600" b="1" dirty="0" smtClean="0">
              <a:solidFill>
                <a:schemeClr val="accent2"/>
              </a:solidFill>
            </a:endParaRPr>
          </a:p>
          <a:p>
            <a:pPr marL="0" indent="0">
              <a:buNone/>
            </a:pPr>
            <a:endParaRPr lang="fr-FR" sz="2600" b="1" dirty="0" smtClean="0">
              <a:solidFill>
                <a:schemeClr val="accent2"/>
              </a:solidFill>
            </a:endParaRPr>
          </a:p>
          <a:p>
            <a:pPr marL="0" indent="0">
              <a:buNone/>
            </a:pPr>
            <a:r>
              <a:rPr lang="fr-FR" sz="2600" b="1" dirty="0"/>
              <a:t>La plupart de produits de la </a:t>
            </a:r>
            <a:r>
              <a:rPr lang="fr-FR" sz="2600" b="1" dirty="0" smtClean="0">
                <a:solidFill>
                  <a:schemeClr val="accent2"/>
                </a:solidFill>
              </a:rPr>
              <a:t>catégorie </a:t>
            </a:r>
            <a:r>
              <a:rPr lang="fr-FR" sz="2600" b="1" dirty="0" err="1" smtClean="0">
                <a:solidFill>
                  <a:schemeClr val="accent2"/>
                </a:solidFill>
              </a:rPr>
              <a:t>Sugars</a:t>
            </a:r>
            <a:r>
              <a:rPr lang="fr-FR" sz="2600" b="1" dirty="0" smtClean="0">
                <a:solidFill>
                  <a:schemeClr val="accent2"/>
                </a:solidFill>
              </a:rPr>
              <a:t> snacks </a:t>
            </a:r>
            <a:r>
              <a:rPr lang="fr-FR" sz="2600" b="1" dirty="0"/>
              <a:t>ont comme nutrigrade </a:t>
            </a:r>
            <a:r>
              <a:rPr lang="fr-FR" sz="2600" b="1" dirty="0" smtClean="0">
                <a:solidFill>
                  <a:schemeClr val="accent2"/>
                </a:solidFill>
              </a:rPr>
              <a:t>« e » et « d ». </a:t>
            </a:r>
          </a:p>
          <a:p>
            <a:pPr marL="0" indent="0">
              <a:buNone/>
            </a:pPr>
            <a:endParaRPr lang="fr-FR" sz="2600" b="1" dirty="0" smtClean="0">
              <a:solidFill>
                <a:schemeClr val="accent2"/>
              </a:solidFill>
            </a:endParaRPr>
          </a:p>
          <a:p>
            <a:pPr marL="0" indent="0">
              <a:buNone/>
            </a:pPr>
            <a:endParaRPr lang="fr-FR" sz="2600" b="1" dirty="0">
              <a:solidFill>
                <a:schemeClr val="accent2"/>
              </a:solidFill>
            </a:endParaRPr>
          </a:p>
        </p:txBody>
      </p:sp>
      <p:pic>
        <p:nvPicPr>
          <p:cNvPr id="5" name="Image 4"/>
          <p:cNvPicPr>
            <a:picLocks noChangeAspect="1"/>
          </p:cNvPicPr>
          <p:nvPr/>
        </p:nvPicPr>
        <p:blipFill>
          <a:blip r:embed="rId2"/>
          <a:stretch>
            <a:fillRect/>
          </a:stretch>
        </p:blipFill>
        <p:spPr>
          <a:xfrm>
            <a:off x="1463040" y="2091639"/>
            <a:ext cx="7074568" cy="2239729"/>
          </a:xfrm>
          <a:prstGeom prst="rect">
            <a:avLst/>
          </a:prstGeom>
        </p:spPr>
      </p:pic>
    </p:spTree>
    <p:extLst>
      <p:ext uri="{BB962C8B-B14F-4D97-AF65-F5344CB8AC3E}">
        <p14:creationId xmlns:p14="http://schemas.microsoft.com/office/powerpoint/2010/main" val="2831263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05063" y="297748"/>
            <a:ext cx="10515600" cy="943911"/>
          </a:xfrm>
        </p:spPr>
        <p:txBody>
          <a:bodyPr>
            <a:normAutofit fontScale="90000"/>
          </a:bodyPr>
          <a:lstStyle/>
          <a:p>
            <a:pPr algn="ctr"/>
            <a:r>
              <a:rPr lang="fr-FR" b="1" dirty="0">
                <a:solidFill>
                  <a:schemeClr val="accent2"/>
                </a:solidFill>
                <a:latin typeface="Bahnschrift Condensed" panose="020B0502040204020203" pitchFamily="34" charset="0"/>
              </a:rPr>
              <a:t>TESTS STATISTICS</a:t>
            </a:r>
            <a:br>
              <a:rPr lang="fr-FR" b="1" dirty="0">
                <a:solidFill>
                  <a:schemeClr val="accent2"/>
                </a:solidFill>
                <a:latin typeface="Bahnschrift Condensed" panose="020B0502040204020203" pitchFamily="34" charset="0"/>
              </a:rPr>
            </a:br>
            <a:r>
              <a:rPr lang="fr-FR" sz="2700" b="1" dirty="0">
                <a:solidFill>
                  <a:schemeClr val="accent2"/>
                </a:solidFill>
                <a:latin typeface="Bahnschrift Condensed" panose="020B0502040204020203" pitchFamily="34" charset="0"/>
              </a:rPr>
              <a:t>LIAISON ENTRE CATEGORIAL ET NUMERICAL VARS</a:t>
            </a:r>
            <a:endParaRPr lang="fr-FR" sz="2700" dirty="0">
              <a:latin typeface="Bahnschrift Condensed" panose="020B0502040204020203" pitchFamily="34" charset="0"/>
            </a:endParaRPr>
          </a:p>
        </p:txBody>
      </p:sp>
      <p:sp>
        <p:nvSpPr>
          <p:cNvPr id="3" name="Espace réservé du contenu 2"/>
          <p:cNvSpPr>
            <a:spLocks noGrp="1"/>
          </p:cNvSpPr>
          <p:nvPr>
            <p:ph idx="1"/>
          </p:nvPr>
        </p:nvSpPr>
        <p:spPr>
          <a:xfrm>
            <a:off x="166255" y="1468582"/>
            <a:ext cx="11748654" cy="5153891"/>
          </a:xfrm>
        </p:spPr>
        <p:txBody>
          <a:bodyPr>
            <a:normAutofit fontScale="92500" lnSpcReduction="20000"/>
          </a:bodyPr>
          <a:lstStyle/>
          <a:p>
            <a:pPr marL="0" indent="0">
              <a:buNone/>
            </a:pPr>
            <a:r>
              <a:rPr lang="fr-FR" sz="2600" b="1" dirty="0" smtClean="0"/>
              <a:t>L’</a:t>
            </a:r>
            <a:r>
              <a:rPr lang="fr-FR" sz="2600" b="1" dirty="0" err="1"/>
              <a:t>A</a:t>
            </a:r>
            <a:r>
              <a:rPr lang="fr-FR" sz="2600" b="1" dirty="0" err="1" smtClean="0"/>
              <a:t>nova</a:t>
            </a:r>
            <a:r>
              <a:rPr lang="fr-FR" sz="2600" b="1" dirty="0" smtClean="0"/>
              <a:t> nous permet de comparer les variations entre groupe de nutrigrade des valeurs des différents ingrédients. </a:t>
            </a:r>
          </a:p>
          <a:p>
            <a:pPr marL="0" indent="0">
              <a:buNone/>
            </a:pPr>
            <a:endParaRPr lang="fr-FR" sz="2600" b="1" dirty="0" smtClean="0">
              <a:solidFill>
                <a:schemeClr val="accent2"/>
              </a:solidFill>
            </a:endParaRPr>
          </a:p>
          <a:p>
            <a:pPr marL="0" indent="0">
              <a:buNone/>
            </a:pPr>
            <a:endParaRPr lang="fr-FR" sz="2600" b="1" dirty="0">
              <a:solidFill>
                <a:schemeClr val="accent2"/>
              </a:solidFill>
            </a:endParaRPr>
          </a:p>
          <a:p>
            <a:pPr marL="0" indent="0">
              <a:buNone/>
            </a:pPr>
            <a:endParaRPr lang="fr-FR" sz="2600" b="1" dirty="0" smtClean="0">
              <a:solidFill>
                <a:schemeClr val="accent2"/>
              </a:solidFill>
            </a:endParaRPr>
          </a:p>
          <a:p>
            <a:pPr marL="0" indent="0">
              <a:buNone/>
            </a:pPr>
            <a:endParaRPr lang="fr-FR" sz="2600" b="1" dirty="0">
              <a:solidFill>
                <a:schemeClr val="accent2"/>
              </a:solidFill>
            </a:endParaRPr>
          </a:p>
          <a:p>
            <a:pPr marL="0" indent="0">
              <a:buNone/>
            </a:pPr>
            <a:endParaRPr lang="fr-FR" sz="2600" b="1" dirty="0" smtClean="0">
              <a:solidFill>
                <a:schemeClr val="accent2"/>
              </a:solidFill>
            </a:endParaRPr>
          </a:p>
          <a:p>
            <a:pPr marL="0" indent="0">
              <a:buNone/>
            </a:pPr>
            <a:endParaRPr lang="fr-FR" sz="2600" b="1" dirty="0" smtClean="0">
              <a:solidFill>
                <a:schemeClr val="accent2"/>
              </a:solidFill>
            </a:endParaRPr>
          </a:p>
          <a:p>
            <a:pPr marL="0" indent="0">
              <a:buNone/>
            </a:pPr>
            <a:endParaRPr lang="fr-FR" sz="2600" b="1" dirty="0">
              <a:solidFill>
                <a:schemeClr val="accent2"/>
              </a:solidFill>
            </a:endParaRPr>
          </a:p>
          <a:p>
            <a:pPr marL="0" indent="0">
              <a:buNone/>
            </a:pPr>
            <a:endParaRPr lang="fr-FR" sz="2600" b="1" dirty="0">
              <a:solidFill>
                <a:schemeClr val="accent2"/>
              </a:solidFill>
            </a:endParaRPr>
          </a:p>
          <a:p>
            <a:pPr marL="0" indent="0">
              <a:buNone/>
            </a:pPr>
            <a:endParaRPr lang="fr-FR" sz="2600" b="1" dirty="0" smtClean="0">
              <a:solidFill>
                <a:schemeClr val="accent2"/>
              </a:solidFill>
            </a:endParaRPr>
          </a:p>
          <a:p>
            <a:pPr marL="0" indent="0">
              <a:buNone/>
            </a:pPr>
            <a:r>
              <a:rPr lang="fr-FR" sz="2600" b="1" dirty="0"/>
              <a:t>Pour un </a:t>
            </a:r>
            <a:r>
              <a:rPr lang="fr-FR" sz="2600" b="1" dirty="0" err="1" smtClean="0"/>
              <a:t>un</a:t>
            </a:r>
            <a:r>
              <a:rPr lang="fr-FR" sz="2600" b="1" dirty="0" smtClean="0"/>
              <a:t> niveau de significativité fixé à 5%, il apparait que tout les P-values sont &lt; 0.05, </a:t>
            </a:r>
            <a:r>
              <a:rPr lang="fr-FR" sz="2600" b="1" dirty="0" smtClean="0"/>
              <a:t>c</a:t>
            </a:r>
            <a:r>
              <a:rPr lang="fr-FR" b="1" dirty="0" smtClean="0"/>
              <a:t>e </a:t>
            </a:r>
            <a:r>
              <a:rPr lang="fr-FR" b="1" dirty="0"/>
              <a:t>qui sous-entend qu'il y a différente </a:t>
            </a:r>
            <a:r>
              <a:rPr lang="fr-FR" b="1" dirty="0" smtClean="0"/>
              <a:t>variations des ingrédients selon le nutrigrade.</a:t>
            </a:r>
            <a:endParaRPr lang="fr-FR" b="1" dirty="0"/>
          </a:p>
          <a:p>
            <a:pPr marL="0" indent="0">
              <a:buNone/>
            </a:pPr>
            <a:endParaRPr lang="fr-FR" sz="2600" b="1" dirty="0"/>
          </a:p>
          <a:p>
            <a:pPr marL="0" indent="0">
              <a:buNone/>
            </a:pPr>
            <a:endParaRPr lang="fr-FR" sz="2600" b="1" dirty="0" smtClean="0">
              <a:solidFill>
                <a:schemeClr val="accent2"/>
              </a:solidFill>
            </a:endParaRPr>
          </a:p>
          <a:p>
            <a:pPr marL="0" indent="0">
              <a:buNone/>
            </a:pPr>
            <a:endParaRPr lang="fr-FR" sz="2600" b="1" dirty="0">
              <a:solidFill>
                <a:schemeClr val="accent2"/>
              </a:solidFill>
            </a:endParaRPr>
          </a:p>
        </p:txBody>
      </p:sp>
      <p:pic>
        <p:nvPicPr>
          <p:cNvPr id="4" name="Image 3"/>
          <p:cNvPicPr>
            <a:picLocks noChangeAspect="1"/>
          </p:cNvPicPr>
          <p:nvPr/>
        </p:nvPicPr>
        <p:blipFill>
          <a:blip r:embed="rId2"/>
          <a:stretch>
            <a:fillRect/>
          </a:stretch>
        </p:blipFill>
        <p:spPr>
          <a:xfrm>
            <a:off x="1153478" y="2300438"/>
            <a:ext cx="7324725" cy="3080084"/>
          </a:xfrm>
          <a:prstGeom prst="rect">
            <a:avLst/>
          </a:prstGeom>
        </p:spPr>
      </p:pic>
    </p:spTree>
    <p:extLst>
      <p:ext uri="{BB962C8B-B14F-4D97-AF65-F5344CB8AC3E}">
        <p14:creationId xmlns:p14="http://schemas.microsoft.com/office/powerpoint/2010/main" val="1345330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05063" y="297748"/>
            <a:ext cx="10515600" cy="943911"/>
          </a:xfrm>
        </p:spPr>
        <p:txBody>
          <a:bodyPr>
            <a:normAutofit fontScale="90000"/>
          </a:bodyPr>
          <a:lstStyle/>
          <a:p>
            <a:pPr algn="ctr"/>
            <a:r>
              <a:rPr lang="fr-FR" b="1" dirty="0">
                <a:solidFill>
                  <a:schemeClr val="accent2"/>
                </a:solidFill>
                <a:latin typeface="Bahnschrift Condensed" panose="020B0502040204020203" pitchFamily="34" charset="0"/>
              </a:rPr>
              <a:t>TESTS STATISTICS</a:t>
            </a:r>
            <a:br>
              <a:rPr lang="fr-FR" b="1" dirty="0">
                <a:solidFill>
                  <a:schemeClr val="accent2"/>
                </a:solidFill>
                <a:latin typeface="Bahnschrift Condensed" panose="020B0502040204020203" pitchFamily="34" charset="0"/>
              </a:rPr>
            </a:br>
            <a:r>
              <a:rPr lang="fr-FR" sz="2700" b="1" dirty="0">
                <a:solidFill>
                  <a:schemeClr val="accent2"/>
                </a:solidFill>
                <a:latin typeface="Bahnschrift Condensed" panose="020B0502040204020203" pitchFamily="34" charset="0"/>
              </a:rPr>
              <a:t>LIAISON ENTRE NUMERICAL</a:t>
            </a:r>
            <a:r>
              <a:rPr lang="fr-FR" sz="2700" b="1" dirty="0" smtClean="0">
                <a:solidFill>
                  <a:schemeClr val="accent2"/>
                </a:solidFill>
                <a:latin typeface="Bahnschrift Condensed" panose="020B0502040204020203" pitchFamily="34" charset="0"/>
              </a:rPr>
              <a:t> vs </a:t>
            </a:r>
            <a:r>
              <a:rPr lang="fr-FR" sz="2700" b="1" dirty="0">
                <a:solidFill>
                  <a:schemeClr val="accent2"/>
                </a:solidFill>
                <a:latin typeface="Bahnschrift Condensed" panose="020B0502040204020203" pitchFamily="34" charset="0"/>
              </a:rPr>
              <a:t>NUMERICAL VARS</a:t>
            </a:r>
            <a:endParaRPr lang="fr-FR" sz="2700" dirty="0">
              <a:latin typeface="Bahnschrift Condensed" panose="020B0502040204020203" pitchFamily="34" charset="0"/>
            </a:endParaRPr>
          </a:p>
        </p:txBody>
      </p:sp>
      <p:sp>
        <p:nvSpPr>
          <p:cNvPr id="3" name="Espace réservé du contenu 2"/>
          <p:cNvSpPr>
            <a:spLocks noGrp="1"/>
          </p:cNvSpPr>
          <p:nvPr>
            <p:ph idx="1"/>
          </p:nvPr>
        </p:nvSpPr>
        <p:spPr>
          <a:xfrm>
            <a:off x="166255" y="1468582"/>
            <a:ext cx="11748654" cy="5153891"/>
          </a:xfrm>
        </p:spPr>
        <p:txBody>
          <a:bodyPr>
            <a:normAutofit/>
          </a:bodyPr>
          <a:lstStyle/>
          <a:p>
            <a:pPr marL="0" indent="0">
              <a:buNone/>
            </a:pPr>
            <a:r>
              <a:rPr lang="fr-FR" sz="2600" b="1" dirty="0" smtClean="0"/>
              <a:t>Le test de Pearson nous permet de juger la dépendance entre variables continues. </a:t>
            </a:r>
          </a:p>
          <a:p>
            <a:pPr marL="0" indent="0">
              <a:buNone/>
            </a:pPr>
            <a:endParaRPr lang="fr-FR" sz="2600" b="1" dirty="0">
              <a:solidFill>
                <a:schemeClr val="accent2"/>
              </a:solidFill>
            </a:endParaRPr>
          </a:p>
          <a:p>
            <a:pPr marL="0" indent="0">
              <a:buNone/>
            </a:pPr>
            <a:endParaRPr lang="fr-FR" sz="2600" b="1" dirty="0" smtClean="0">
              <a:solidFill>
                <a:schemeClr val="accent2"/>
              </a:solidFill>
            </a:endParaRPr>
          </a:p>
          <a:p>
            <a:pPr marL="0" indent="0">
              <a:buNone/>
            </a:pPr>
            <a:endParaRPr lang="fr-FR" sz="2600" b="1" dirty="0">
              <a:solidFill>
                <a:schemeClr val="accent2"/>
              </a:solidFill>
            </a:endParaRPr>
          </a:p>
          <a:p>
            <a:pPr marL="0" indent="0">
              <a:buNone/>
            </a:pPr>
            <a:endParaRPr lang="fr-FR" sz="2600" b="1" dirty="0" smtClean="0">
              <a:solidFill>
                <a:schemeClr val="accent2"/>
              </a:solidFill>
            </a:endParaRPr>
          </a:p>
          <a:p>
            <a:pPr marL="0" indent="0">
              <a:buNone/>
            </a:pPr>
            <a:endParaRPr lang="fr-FR" sz="2600" b="1" dirty="0" smtClean="0">
              <a:solidFill>
                <a:schemeClr val="accent2"/>
              </a:solidFill>
            </a:endParaRPr>
          </a:p>
          <a:p>
            <a:pPr marL="0" indent="0">
              <a:buNone/>
            </a:pPr>
            <a:endParaRPr lang="fr-FR" sz="2600" b="1" dirty="0">
              <a:solidFill>
                <a:schemeClr val="accent2"/>
              </a:solidFill>
            </a:endParaRPr>
          </a:p>
          <a:p>
            <a:pPr marL="0" indent="0">
              <a:buNone/>
            </a:pPr>
            <a:endParaRPr lang="fr-FR" sz="2600" b="1" dirty="0">
              <a:solidFill>
                <a:schemeClr val="accent2"/>
              </a:solidFill>
            </a:endParaRPr>
          </a:p>
          <a:p>
            <a:pPr marL="0" indent="0">
              <a:buNone/>
            </a:pPr>
            <a:r>
              <a:rPr lang="fr-FR" b="1" dirty="0"/>
              <a:t>Tous les </a:t>
            </a:r>
            <a:r>
              <a:rPr lang="fr-FR" sz="2400" b="1" dirty="0">
                <a:solidFill>
                  <a:schemeClr val="accent2"/>
                </a:solidFill>
                <a:latin typeface="Bahnschrift Condensed" panose="020B0502040204020203" pitchFamily="34" charset="0"/>
                <a:ea typeface="+mj-ea"/>
                <a:cs typeface="+mj-cs"/>
              </a:rPr>
              <a:t>P-values (&lt;&lt;0</a:t>
            </a:r>
            <a:r>
              <a:rPr lang="fr-FR" sz="2400" b="1" dirty="0" smtClean="0">
                <a:solidFill>
                  <a:schemeClr val="accent2"/>
                </a:solidFill>
                <a:latin typeface="Bahnschrift Condensed" panose="020B0502040204020203" pitchFamily="34" charset="0"/>
                <a:ea typeface="+mj-ea"/>
                <a:cs typeface="+mj-cs"/>
              </a:rPr>
              <a:t>)</a:t>
            </a:r>
            <a:r>
              <a:rPr lang="fr-FR" b="1" dirty="0" smtClean="0"/>
              <a:t>, </a:t>
            </a:r>
            <a:r>
              <a:rPr lang="fr-FR" b="1" dirty="0"/>
              <a:t>Nous pouvons dire qu'il y a un lien ou une dépendance entre les différentes variables ou ingrédients présentant dans un produit.</a:t>
            </a:r>
          </a:p>
          <a:p>
            <a:pPr marL="0" indent="0">
              <a:buNone/>
            </a:pPr>
            <a:endParaRPr lang="fr-FR" sz="2600" b="1" dirty="0"/>
          </a:p>
          <a:p>
            <a:pPr marL="0" indent="0">
              <a:buNone/>
            </a:pPr>
            <a:endParaRPr lang="fr-FR" sz="2600" b="1" dirty="0" smtClean="0">
              <a:solidFill>
                <a:schemeClr val="accent2"/>
              </a:solidFill>
            </a:endParaRPr>
          </a:p>
          <a:p>
            <a:pPr marL="0" indent="0">
              <a:buNone/>
            </a:pPr>
            <a:endParaRPr lang="fr-FR" sz="2600" b="1" dirty="0">
              <a:solidFill>
                <a:schemeClr val="accent2"/>
              </a:solidFill>
            </a:endParaRPr>
          </a:p>
        </p:txBody>
      </p:sp>
      <p:pic>
        <p:nvPicPr>
          <p:cNvPr id="5" name="Image 4"/>
          <p:cNvPicPr>
            <a:picLocks noChangeAspect="1"/>
          </p:cNvPicPr>
          <p:nvPr/>
        </p:nvPicPr>
        <p:blipFill>
          <a:blip r:embed="rId2"/>
          <a:stretch>
            <a:fillRect/>
          </a:stretch>
        </p:blipFill>
        <p:spPr>
          <a:xfrm>
            <a:off x="1308082" y="2146433"/>
            <a:ext cx="9267825" cy="2824313"/>
          </a:xfrm>
          <a:prstGeom prst="rect">
            <a:avLst/>
          </a:prstGeom>
        </p:spPr>
      </p:pic>
    </p:spTree>
    <p:extLst>
      <p:ext uri="{BB962C8B-B14F-4D97-AF65-F5344CB8AC3E}">
        <p14:creationId xmlns:p14="http://schemas.microsoft.com/office/powerpoint/2010/main" val="3090164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05063" y="297748"/>
            <a:ext cx="10515600" cy="943911"/>
          </a:xfrm>
        </p:spPr>
        <p:txBody>
          <a:bodyPr>
            <a:normAutofit fontScale="90000"/>
          </a:bodyPr>
          <a:lstStyle/>
          <a:p>
            <a:pPr algn="ctr"/>
            <a:r>
              <a:rPr lang="fr-FR" b="1" dirty="0">
                <a:solidFill>
                  <a:schemeClr val="accent2"/>
                </a:solidFill>
                <a:latin typeface="Bahnschrift Condensed" panose="020B0502040204020203" pitchFamily="34" charset="0"/>
              </a:rPr>
              <a:t>TESTS STATISTICS</a:t>
            </a:r>
            <a:br>
              <a:rPr lang="fr-FR" b="1" dirty="0">
                <a:solidFill>
                  <a:schemeClr val="accent2"/>
                </a:solidFill>
                <a:latin typeface="Bahnschrift Condensed" panose="020B0502040204020203" pitchFamily="34" charset="0"/>
              </a:rPr>
            </a:br>
            <a:r>
              <a:rPr lang="fr-FR" sz="2700" b="1" dirty="0">
                <a:solidFill>
                  <a:schemeClr val="accent2"/>
                </a:solidFill>
                <a:latin typeface="Bahnschrift Condensed" panose="020B0502040204020203" pitchFamily="34" charset="0"/>
              </a:rPr>
              <a:t>LIAISON ENTRE </a:t>
            </a:r>
            <a:r>
              <a:rPr lang="fr-FR" sz="2700" b="1" dirty="0" err="1" smtClean="0">
                <a:solidFill>
                  <a:schemeClr val="accent2"/>
                </a:solidFill>
                <a:latin typeface="Bahnschrift Condensed" panose="020B0502040204020203" pitchFamily="34" charset="0"/>
              </a:rPr>
              <a:t>Categorical</a:t>
            </a:r>
            <a:r>
              <a:rPr lang="fr-FR" sz="2700" b="1" dirty="0" smtClean="0">
                <a:solidFill>
                  <a:schemeClr val="accent2"/>
                </a:solidFill>
                <a:latin typeface="Bahnschrift Condensed" panose="020B0502040204020203" pitchFamily="34" charset="0"/>
              </a:rPr>
              <a:t> vs </a:t>
            </a:r>
            <a:r>
              <a:rPr lang="fr-FR" sz="2700" b="1" dirty="0" err="1">
                <a:solidFill>
                  <a:schemeClr val="accent2"/>
                </a:solidFill>
                <a:latin typeface="Bahnschrift Condensed" panose="020B0502040204020203" pitchFamily="34" charset="0"/>
              </a:rPr>
              <a:t>Categorical</a:t>
            </a:r>
            <a:r>
              <a:rPr lang="fr-FR" sz="2700" b="1" dirty="0" smtClean="0">
                <a:solidFill>
                  <a:schemeClr val="accent2"/>
                </a:solidFill>
                <a:latin typeface="Bahnschrift Condensed" panose="020B0502040204020203" pitchFamily="34" charset="0"/>
              </a:rPr>
              <a:t> </a:t>
            </a:r>
            <a:r>
              <a:rPr lang="fr-FR" sz="2700" b="1" dirty="0">
                <a:solidFill>
                  <a:schemeClr val="accent2"/>
                </a:solidFill>
                <a:latin typeface="Bahnschrift Condensed" panose="020B0502040204020203" pitchFamily="34" charset="0"/>
              </a:rPr>
              <a:t>VARS</a:t>
            </a:r>
            <a:endParaRPr lang="fr-FR" sz="2700" dirty="0">
              <a:latin typeface="Bahnschrift Condensed" panose="020B0502040204020203" pitchFamily="34" charset="0"/>
            </a:endParaRPr>
          </a:p>
        </p:txBody>
      </p:sp>
      <p:sp>
        <p:nvSpPr>
          <p:cNvPr id="3" name="Espace réservé du contenu 2"/>
          <p:cNvSpPr>
            <a:spLocks noGrp="1"/>
          </p:cNvSpPr>
          <p:nvPr>
            <p:ph idx="1"/>
          </p:nvPr>
        </p:nvSpPr>
        <p:spPr>
          <a:xfrm>
            <a:off x="166255" y="1468582"/>
            <a:ext cx="11748654" cy="5153891"/>
          </a:xfrm>
        </p:spPr>
        <p:txBody>
          <a:bodyPr>
            <a:normAutofit/>
          </a:bodyPr>
          <a:lstStyle/>
          <a:p>
            <a:pPr marL="0" indent="0">
              <a:buNone/>
            </a:pPr>
            <a:r>
              <a:rPr lang="fr-FR" sz="2600" b="1" dirty="0" smtClean="0"/>
              <a:t>Le test de Khi2 nous permet de juger la dépendance entre variables catégorielles. </a:t>
            </a:r>
          </a:p>
          <a:p>
            <a:pPr marL="0" indent="0">
              <a:buNone/>
            </a:pPr>
            <a:endParaRPr lang="fr-FR" sz="2600" b="1" dirty="0">
              <a:solidFill>
                <a:schemeClr val="accent2"/>
              </a:solidFill>
            </a:endParaRPr>
          </a:p>
          <a:p>
            <a:pPr marL="0" indent="0">
              <a:buNone/>
            </a:pPr>
            <a:endParaRPr lang="fr-FR" sz="2600" b="1" dirty="0" smtClean="0">
              <a:solidFill>
                <a:schemeClr val="accent2"/>
              </a:solidFill>
            </a:endParaRPr>
          </a:p>
          <a:p>
            <a:pPr marL="0" indent="0">
              <a:buNone/>
            </a:pPr>
            <a:endParaRPr lang="fr-FR" sz="2600" b="1" dirty="0" smtClean="0">
              <a:solidFill>
                <a:schemeClr val="accent2"/>
              </a:solidFill>
            </a:endParaRPr>
          </a:p>
          <a:p>
            <a:pPr marL="0" indent="0">
              <a:buNone/>
            </a:pPr>
            <a:endParaRPr lang="fr-FR" sz="2600" b="1" dirty="0">
              <a:solidFill>
                <a:schemeClr val="accent2"/>
              </a:solidFill>
            </a:endParaRPr>
          </a:p>
          <a:p>
            <a:pPr marL="0" indent="0">
              <a:buNone/>
            </a:pPr>
            <a:endParaRPr lang="fr-FR" sz="2600" b="1" dirty="0" smtClean="0">
              <a:solidFill>
                <a:schemeClr val="accent2"/>
              </a:solidFill>
            </a:endParaRPr>
          </a:p>
          <a:p>
            <a:pPr marL="0" indent="0">
              <a:buNone/>
            </a:pPr>
            <a:endParaRPr lang="fr-FR" sz="2600" b="1" dirty="0">
              <a:solidFill>
                <a:schemeClr val="accent2"/>
              </a:solidFill>
            </a:endParaRPr>
          </a:p>
          <a:p>
            <a:pPr marL="0" indent="0">
              <a:buNone/>
            </a:pPr>
            <a:r>
              <a:rPr lang="fr-FR" sz="2600" b="1" dirty="0" smtClean="0"/>
              <a:t>Le </a:t>
            </a:r>
            <a:r>
              <a:rPr lang="fr-FR" sz="2400" b="1" dirty="0">
                <a:solidFill>
                  <a:schemeClr val="accent2"/>
                </a:solidFill>
                <a:latin typeface="Bahnschrift Condensed" panose="020B0502040204020203" pitchFamily="34" charset="0"/>
                <a:ea typeface="+mj-ea"/>
                <a:cs typeface="+mj-cs"/>
              </a:rPr>
              <a:t>test de Khi2 </a:t>
            </a:r>
            <a:r>
              <a:rPr lang="fr-FR" sz="2600" b="1" dirty="0" smtClean="0"/>
              <a:t>appliqué mutuellement aux variables </a:t>
            </a:r>
            <a:r>
              <a:rPr lang="fr-FR" sz="2400" b="1" dirty="0">
                <a:solidFill>
                  <a:schemeClr val="accent2"/>
                </a:solidFill>
                <a:latin typeface="Bahnschrift Condensed" panose="020B0502040204020203" pitchFamily="34" charset="0"/>
                <a:ea typeface="+mj-ea"/>
                <a:cs typeface="+mj-cs"/>
              </a:rPr>
              <a:t>pnns_groups_1</a:t>
            </a:r>
            <a:r>
              <a:rPr lang="fr-FR" sz="2600" b="1" dirty="0" smtClean="0"/>
              <a:t>, </a:t>
            </a:r>
            <a:r>
              <a:rPr lang="fr-FR" sz="2400" b="1" dirty="0">
                <a:solidFill>
                  <a:schemeClr val="accent2"/>
                </a:solidFill>
                <a:latin typeface="Bahnschrift Condensed" panose="020B0502040204020203" pitchFamily="34" charset="0"/>
                <a:ea typeface="+mj-ea"/>
                <a:cs typeface="+mj-cs"/>
              </a:rPr>
              <a:t>countries</a:t>
            </a:r>
            <a:r>
              <a:rPr lang="fr-FR" sz="2600" b="1" dirty="0" smtClean="0"/>
              <a:t> et </a:t>
            </a:r>
            <a:r>
              <a:rPr lang="fr-FR" sz="2400" b="1" dirty="0" err="1">
                <a:solidFill>
                  <a:schemeClr val="accent2"/>
                </a:solidFill>
                <a:latin typeface="Bahnschrift Condensed" panose="020B0502040204020203" pitchFamily="34" charset="0"/>
                <a:ea typeface="+mj-ea"/>
                <a:cs typeface="+mj-cs"/>
              </a:rPr>
              <a:t>nutrition_grade_fr</a:t>
            </a:r>
            <a:r>
              <a:rPr lang="fr-FR" sz="2600" b="1" dirty="0" smtClean="0"/>
              <a:t>, donne pour chaque test, un </a:t>
            </a:r>
            <a:r>
              <a:rPr lang="fr-FR" sz="2400" b="1" dirty="0">
                <a:solidFill>
                  <a:schemeClr val="accent2"/>
                </a:solidFill>
                <a:latin typeface="Bahnschrift Condensed" panose="020B0502040204020203" pitchFamily="34" charset="0"/>
                <a:ea typeface="+mj-ea"/>
                <a:cs typeface="+mj-cs"/>
              </a:rPr>
              <a:t>p-value &lt;&lt;0.05</a:t>
            </a:r>
            <a:r>
              <a:rPr lang="fr-FR" sz="2600" b="1" dirty="0" smtClean="0"/>
              <a:t>.</a:t>
            </a:r>
          </a:p>
          <a:p>
            <a:pPr marL="0" indent="0">
              <a:buNone/>
            </a:pPr>
            <a:r>
              <a:rPr lang="fr-FR" sz="2600" b="1" dirty="0" smtClean="0"/>
              <a:t>D’où la dépendance entre ces variables. </a:t>
            </a:r>
            <a:endParaRPr lang="fr-FR" sz="2600" b="1" dirty="0"/>
          </a:p>
          <a:p>
            <a:pPr marL="0" indent="0">
              <a:buNone/>
            </a:pPr>
            <a:endParaRPr lang="fr-FR" sz="2600" b="1" dirty="0" smtClean="0">
              <a:solidFill>
                <a:schemeClr val="accent2"/>
              </a:solidFill>
            </a:endParaRPr>
          </a:p>
          <a:p>
            <a:pPr marL="0" indent="0">
              <a:buNone/>
            </a:pPr>
            <a:endParaRPr lang="fr-FR" sz="2600" b="1" dirty="0">
              <a:solidFill>
                <a:schemeClr val="accent2"/>
              </a:solidFill>
            </a:endParaRPr>
          </a:p>
        </p:txBody>
      </p:sp>
      <p:pic>
        <p:nvPicPr>
          <p:cNvPr id="4" name="Image 3"/>
          <p:cNvPicPr>
            <a:picLocks noChangeAspect="1"/>
          </p:cNvPicPr>
          <p:nvPr/>
        </p:nvPicPr>
        <p:blipFill>
          <a:blip r:embed="rId2"/>
          <a:stretch>
            <a:fillRect/>
          </a:stretch>
        </p:blipFill>
        <p:spPr>
          <a:xfrm>
            <a:off x="1538989" y="2204185"/>
            <a:ext cx="8798544" cy="1229428"/>
          </a:xfrm>
          <a:prstGeom prst="rect">
            <a:avLst/>
          </a:prstGeom>
        </p:spPr>
      </p:pic>
      <p:pic>
        <p:nvPicPr>
          <p:cNvPr id="6" name="Image 5"/>
          <p:cNvPicPr>
            <a:picLocks noChangeAspect="1"/>
          </p:cNvPicPr>
          <p:nvPr/>
        </p:nvPicPr>
        <p:blipFill>
          <a:blip r:embed="rId3"/>
          <a:stretch>
            <a:fillRect/>
          </a:stretch>
        </p:blipFill>
        <p:spPr>
          <a:xfrm>
            <a:off x="1538988" y="3583428"/>
            <a:ext cx="8914047" cy="1171575"/>
          </a:xfrm>
          <a:prstGeom prst="rect">
            <a:avLst/>
          </a:prstGeom>
        </p:spPr>
      </p:pic>
    </p:spTree>
    <p:extLst>
      <p:ext uri="{BB962C8B-B14F-4D97-AF65-F5344CB8AC3E}">
        <p14:creationId xmlns:p14="http://schemas.microsoft.com/office/powerpoint/2010/main" val="2905246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05063" y="297748"/>
            <a:ext cx="10515600" cy="943911"/>
          </a:xfrm>
        </p:spPr>
        <p:txBody>
          <a:bodyPr>
            <a:normAutofit/>
          </a:bodyPr>
          <a:lstStyle/>
          <a:p>
            <a:pPr algn="ctr"/>
            <a:r>
              <a:rPr lang="fr-FR" b="1" dirty="0" smtClean="0">
                <a:solidFill>
                  <a:schemeClr val="accent2"/>
                </a:solidFill>
                <a:latin typeface="Bahnschrift Condensed" panose="020B0502040204020203" pitchFamily="34" charset="0"/>
              </a:rPr>
              <a:t>Analyse multivariée (PCA)</a:t>
            </a:r>
            <a:endParaRPr lang="fr-FR" sz="2700" dirty="0">
              <a:latin typeface="Bahnschrift Condensed" panose="020B0502040204020203" pitchFamily="34" charset="0"/>
            </a:endParaRPr>
          </a:p>
        </p:txBody>
      </p:sp>
      <p:sp>
        <p:nvSpPr>
          <p:cNvPr id="3" name="Espace réservé du contenu 2"/>
          <p:cNvSpPr>
            <a:spLocks noGrp="1"/>
          </p:cNvSpPr>
          <p:nvPr>
            <p:ph idx="1"/>
          </p:nvPr>
        </p:nvSpPr>
        <p:spPr>
          <a:xfrm>
            <a:off x="288699" y="1241659"/>
            <a:ext cx="11748654" cy="5153891"/>
          </a:xfrm>
        </p:spPr>
        <p:txBody>
          <a:bodyPr>
            <a:normAutofit lnSpcReduction="10000"/>
          </a:bodyPr>
          <a:lstStyle/>
          <a:p>
            <a:pPr marL="0" indent="0">
              <a:buNone/>
            </a:pPr>
            <a:r>
              <a:rPr lang="fr-FR" sz="2600" b="1" dirty="0" smtClean="0"/>
              <a:t>L’analyse en composante principale, nous permet de réduire la dimensionnalité des données initiales afin de pouvoir les représenter dans le plan ou dans l’espace par exemple toute minimisant la perte d’information (maximisation de l’inertie).</a:t>
            </a:r>
          </a:p>
          <a:p>
            <a:pPr marL="0" indent="0">
              <a:buNone/>
            </a:pPr>
            <a:endParaRPr lang="fr-FR" sz="2600" b="1" dirty="0" smtClean="0"/>
          </a:p>
          <a:p>
            <a:pPr marL="0" indent="0">
              <a:buNone/>
            </a:pPr>
            <a:r>
              <a:rPr lang="fr-FR" sz="2600" b="1" dirty="0" smtClean="0"/>
              <a:t> </a:t>
            </a:r>
          </a:p>
          <a:p>
            <a:pPr marL="0" indent="0">
              <a:buNone/>
            </a:pPr>
            <a:endParaRPr lang="fr-FR" sz="2600" b="1" dirty="0">
              <a:solidFill>
                <a:schemeClr val="accent2"/>
              </a:solidFill>
            </a:endParaRPr>
          </a:p>
          <a:p>
            <a:pPr marL="0" indent="0">
              <a:buNone/>
            </a:pPr>
            <a:endParaRPr lang="fr-FR" sz="2600" b="1" dirty="0" smtClean="0">
              <a:solidFill>
                <a:schemeClr val="accent2"/>
              </a:solidFill>
            </a:endParaRPr>
          </a:p>
          <a:p>
            <a:pPr marL="0" indent="0">
              <a:buNone/>
            </a:pPr>
            <a:endParaRPr lang="fr-FR" sz="2600" b="1" dirty="0" smtClean="0">
              <a:solidFill>
                <a:schemeClr val="accent2"/>
              </a:solidFill>
            </a:endParaRPr>
          </a:p>
          <a:p>
            <a:pPr marL="0" indent="0">
              <a:buNone/>
            </a:pPr>
            <a:endParaRPr lang="fr-FR" sz="2600" b="1" dirty="0">
              <a:solidFill>
                <a:schemeClr val="accent2"/>
              </a:solidFill>
            </a:endParaRPr>
          </a:p>
          <a:p>
            <a:pPr marL="0" indent="0">
              <a:buNone/>
            </a:pPr>
            <a:endParaRPr lang="fr-FR" sz="2600" b="1" dirty="0" smtClean="0">
              <a:solidFill>
                <a:schemeClr val="accent2"/>
              </a:solidFill>
            </a:endParaRPr>
          </a:p>
          <a:p>
            <a:pPr marL="0" indent="0">
              <a:buNone/>
            </a:pPr>
            <a:r>
              <a:rPr lang="fr-FR" sz="2600" b="1" dirty="0"/>
              <a:t>Les deux premiers axes résument environ </a:t>
            </a:r>
            <a:r>
              <a:rPr lang="fr-FR" sz="2600" b="1" dirty="0">
                <a:solidFill>
                  <a:schemeClr val="accent2"/>
                </a:solidFill>
              </a:rPr>
              <a:t>93%</a:t>
            </a:r>
            <a:r>
              <a:rPr lang="fr-FR" sz="2600" b="1" dirty="0"/>
              <a:t> de l’information. Ainsi, on peut se contenter de représenter les données sur un plan d’axes </a:t>
            </a:r>
            <a:r>
              <a:rPr lang="fr-FR" sz="2600" b="1" dirty="0" smtClean="0">
                <a:solidFill>
                  <a:schemeClr val="accent2"/>
                </a:solidFill>
              </a:rPr>
              <a:t>Dim1 vs Dim2. </a:t>
            </a:r>
            <a:endParaRPr lang="fr-FR" sz="2600" b="1" dirty="0">
              <a:solidFill>
                <a:schemeClr val="accent2"/>
              </a:solidFill>
            </a:endParaRPr>
          </a:p>
        </p:txBody>
      </p:sp>
      <p:pic>
        <p:nvPicPr>
          <p:cNvPr id="5" name="Image 4"/>
          <p:cNvPicPr>
            <a:picLocks noChangeAspect="1"/>
          </p:cNvPicPr>
          <p:nvPr/>
        </p:nvPicPr>
        <p:blipFill>
          <a:blip r:embed="rId2"/>
          <a:stretch>
            <a:fillRect/>
          </a:stretch>
        </p:blipFill>
        <p:spPr>
          <a:xfrm>
            <a:off x="2238777" y="2549400"/>
            <a:ext cx="6500962" cy="2857500"/>
          </a:xfrm>
          <a:prstGeom prst="rect">
            <a:avLst/>
          </a:prstGeom>
        </p:spPr>
      </p:pic>
    </p:spTree>
    <p:extLst>
      <p:ext uri="{BB962C8B-B14F-4D97-AF65-F5344CB8AC3E}">
        <p14:creationId xmlns:p14="http://schemas.microsoft.com/office/powerpoint/2010/main" val="1245514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r>
              <a:rPr lang="fr-FR" dirty="0" smtClean="0"/>
              <a:t>Ci-dessous la représentation des individus suivant les axes Dim1 &amp; Dim2 : </a:t>
            </a:r>
          </a:p>
          <a:p>
            <a:pPr marL="0" indent="0">
              <a:buNone/>
            </a:pPr>
            <a:endParaRPr lang="fr-FR" dirty="0"/>
          </a:p>
        </p:txBody>
      </p:sp>
      <p:sp>
        <p:nvSpPr>
          <p:cNvPr id="4" name="Titre 1"/>
          <p:cNvSpPr>
            <a:spLocks noGrp="1"/>
          </p:cNvSpPr>
          <p:nvPr>
            <p:ph type="title"/>
          </p:nvPr>
        </p:nvSpPr>
        <p:spPr/>
        <p:txBody>
          <a:bodyPr>
            <a:normAutofit/>
          </a:bodyPr>
          <a:lstStyle/>
          <a:p>
            <a:pPr algn="ctr"/>
            <a:r>
              <a:rPr lang="fr-FR" b="1" dirty="0" smtClean="0">
                <a:solidFill>
                  <a:schemeClr val="accent2"/>
                </a:solidFill>
                <a:latin typeface="Bahnschrift Condensed" panose="020B0502040204020203" pitchFamily="34" charset="0"/>
              </a:rPr>
              <a:t>Analyse multivariée (PCA)</a:t>
            </a:r>
            <a:br>
              <a:rPr lang="fr-FR" b="1" dirty="0" smtClean="0">
                <a:solidFill>
                  <a:schemeClr val="accent2"/>
                </a:solidFill>
                <a:latin typeface="Bahnschrift Condensed" panose="020B0502040204020203" pitchFamily="34" charset="0"/>
              </a:rPr>
            </a:br>
            <a:r>
              <a:rPr lang="fr-FR" sz="3200" b="1" dirty="0" smtClean="0">
                <a:solidFill>
                  <a:schemeClr val="accent2"/>
                </a:solidFill>
                <a:latin typeface="Bahnschrift Condensed" panose="020B0502040204020203" pitchFamily="34" charset="0"/>
              </a:rPr>
              <a:t>Nuage des individus</a:t>
            </a:r>
            <a:endParaRPr lang="fr-FR" sz="1800" dirty="0">
              <a:latin typeface="Bahnschrift Condensed" panose="020B0502040204020203" pitchFamily="34" charset="0"/>
            </a:endParaRPr>
          </a:p>
        </p:txBody>
      </p:sp>
      <p:pic>
        <p:nvPicPr>
          <p:cNvPr id="5" name="Image 4"/>
          <p:cNvPicPr>
            <a:picLocks noChangeAspect="1"/>
          </p:cNvPicPr>
          <p:nvPr/>
        </p:nvPicPr>
        <p:blipFill>
          <a:blip r:embed="rId2"/>
          <a:stretch>
            <a:fillRect/>
          </a:stretch>
        </p:blipFill>
        <p:spPr>
          <a:xfrm>
            <a:off x="2522119" y="2952681"/>
            <a:ext cx="5832609" cy="3359219"/>
          </a:xfrm>
          <a:prstGeom prst="rect">
            <a:avLst/>
          </a:prstGeom>
        </p:spPr>
      </p:pic>
    </p:spTree>
    <p:extLst>
      <p:ext uri="{BB962C8B-B14F-4D97-AF65-F5344CB8AC3E}">
        <p14:creationId xmlns:p14="http://schemas.microsoft.com/office/powerpoint/2010/main" val="40037083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fontScale="70000" lnSpcReduction="20000"/>
          </a:bodyPr>
          <a:lstStyle/>
          <a:p>
            <a:r>
              <a:rPr lang="fr-FR" dirty="0"/>
              <a:t>Le cercle de corrélation permet de décrire les axes à travers les </a:t>
            </a:r>
            <a:r>
              <a:rPr lang="fr-FR" dirty="0" smtClean="0"/>
              <a:t>variables.</a:t>
            </a:r>
          </a:p>
          <a:p>
            <a:endParaRPr lang="fr-FR" dirty="0"/>
          </a:p>
          <a:p>
            <a:endParaRPr lang="fr-FR" dirty="0" smtClean="0"/>
          </a:p>
          <a:p>
            <a:endParaRPr lang="fr-FR" dirty="0" smtClean="0"/>
          </a:p>
          <a:p>
            <a:endParaRPr lang="fr-FR" dirty="0"/>
          </a:p>
          <a:p>
            <a:endParaRPr lang="fr-FR" dirty="0" smtClean="0"/>
          </a:p>
          <a:p>
            <a:endParaRPr lang="fr-FR" dirty="0"/>
          </a:p>
          <a:p>
            <a:endParaRPr lang="fr-FR" dirty="0" smtClean="0"/>
          </a:p>
          <a:p>
            <a:r>
              <a:rPr lang="fr-FR" dirty="0" smtClean="0"/>
              <a:t>L’axe1 oppose les produits ayant une concentration très élevée </a:t>
            </a:r>
            <a:r>
              <a:rPr lang="fr-FR" sz="2900" b="1" dirty="0">
                <a:solidFill>
                  <a:schemeClr val="accent2"/>
                </a:solidFill>
                <a:latin typeface="Bahnschrift Condensed" panose="020B0502040204020203" pitchFamily="34" charset="0"/>
                <a:ea typeface="+mj-ea"/>
                <a:cs typeface="+mj-cs"/>
              </a:rPr>
              <a:t>en graisse</a:t>
            </a:r>
            <a:r>
              <a:rPr lang="fr-FR" dirty="0" smtClean="0"/>
              <a:t>, en </a:t>
            </a:r>
            <a:r>
              <a:rPr lang="fr-FR" sz="2900" b="1" dirty="0">
                <a:solidFill>
                  <a:schemeClr val="accent2"/>
                </a:solidFill>
                <a:latin typeface="Bahnschrift Condensed" panose="020B0502040204020203" pitchFamily="34" charset="0"/>
                <a:ea typeface="+mj-ea"/>
                <a:cs typeface="+mj-cs"/>
              </a:rPr>
              <a:t>graisse saturée </a:t>
            </a:r>
            <a:r>
              <a:rPr lang="fr-FR" dirty="0" smtClean="0"/>
              <a:t>et un </a:t>
            </a:r>
            <a:r>
              <a:rPr lang="fr-FR" sz="2900" b="1" dirty="0">
                <a:solidFill>
                  <a:schemeClr val="accent2"/>
                </a:solidFill>
                <a:latin typeface="Bahnschrift Condensed" panose="020B0502040204020203" pitchFamily="34" charset="0"/>
                <a:ea typeface="+mj-ea"/>
                <a:cs typeface="+mj-cs"/>
              </a:rPr>
              <a:t>nutriscore</a:t>
            </a:r>
            <a:r>
              <a:rPr lang="fr-FR" dirty="0" smtClean="0"/>
              <a:t> très élevé également contre ceux ayant des valeurs très faibles pour ces ingrédients. </a:t>
            </a:r>
          </a:p>
          <a:p>
            <a:r>
              <a:rPr lang="fr-FR" dirty="0" smtClean="0"/>
              <a:t>La variable la mieux représenté dans l’axe2 est le </a:t>
            </a:r>
            <a:r>
              <a:rPr lang="fr-FR" sz="2900" b="1" dirty="0">
                <a:solidFill>
                  <a:schemeClr val="accent2"/>
                </a:solidFill>
                <a:latin typeface="Bahnschrift Condensed" panose="020B0502040204020203" pitchFamily="34" charset="0"/>
                <a:ea typeface="+mj-ea"/>
                <a:cs typeface="+mj-cs"/>
              </a:rPr>
              <a:t>sugars_100G. </a:t>
            </a:r>
          </a:p>
          <a:p>
            <a:r>
              <a:rPr lang="fr-FR" dirty="0" smtClean="0"/>
              <a:t>Par contre le </a:t>
            </a:r>
            <a:r>
              <a:rPr lang="fr-FR" sz="2900" b="1" dirty="0">
                <a:solidFill>
                  <a:schemeClr val="accent2"/>
                </a:solidFill>
                <a:latin typeface="Bahnschrift Condensed" panose="020B0502040204020203" pitchFamily="34" charset="0"/>
                <a:ea typeface="+mj-ea"/>
                <a:cs typeface="+mj-cs"/>
              </a:rPr>
              <a:t>cholestérol </a:t>
            </a:r>
            <a:r>
              <a:rPr lang="fr-FR" dirty="0" smtClean="0"/>
              <a:t>n’est bien représenté sur aucun des axes d’où ca non pertinence. </a:t>
            </a:r>
            <a:endParaRPr lang="fr-FR" dirty="0"/>
          </a:p>
        </p:txBody>
      </p:sp>
      <p:sp>
        <p:nvSpPr>
          <p:cNvPr id="4" name="Titre 1"/>
          <p:cNvSpPr>
            <a:spLocks noGrp="1"/>
          </p:cNvSpPr>
          <p:nvPr>
            <p:ph type="title"/>
          </p:nvPr>
        </p:nvSpPr>
        <p:spPr/>
        <p:txBody>
          <a:bodyPr>
            <a:normAutofit/>
          </a:bodyPr>
          <a:lstStyle/>
          <a:p>
            <a:pPr algn="ctr"/>
            <a:r>
              <a:rPr lang="fr-FR" b="1" dirty="0" smtClean="0">
                <a:solidFill>
                  <a:schemeClr val="accent2"/>
                </a:solidFill>
                <a:latin typeface="Bahnschrift Condensed" panose="020B0502040204020203" pitchFamily="34" charset="0"/>
              </a:rPr>
              <a:t>Analyse multivariée (PCA)</a:t>
            </a:r>
            <a:br>
              <a:rPr lang="fr-FR" b="1" dirty="0" smtClean="0">
                <a:solidFill>
                  <a:schemeClr val="accent2"/>
                </a:solidFill>
                <a:latin typeface="Bahnschrift Condensed" panose="020B0502040204020203" pitchFamily="34" charset="0"/>
              </a:rPr>
            </a:br>
            <a:r>
              <a:rPr lang="fr-FR" sz="3200" b="1" dirty="0" smtClean="0">
                <a:solidFill>
                  <a:schemeClr val="accent2"/>
                </a:solidFill>
                <a:latin typeface="Bahnschrift Condensed" panose="020B0502040204020203" pitchFamily="34" charset="0"/>
              </a:rPr>
              <a:t>Nuage des variables</a:t>
            </a:r>
            <a:endParaRPr lang="fr-FR" sz="1800" dirty="0">
              <a:latin typeface="Bahnschrift Condensed" panose="020B0502040204020203" pitchFamily="34" charset="0"/>
            </a:endParaRPr>
          </a:p>
        </p:txBody>
      </p:sp>
      <p:pic>
        <p:nvPicPr>
          <p:cNvPr id="2" name="Image 1"/>
          <p:cNvPicPr>
            <a:picLocks noChangeAspect="1"/>
          </p:cNvPicPr>
          <p:nvPr/>
        </p:nvPicPr>
        <p:blipFill>
          <a:blip r:embed="rId2"/>
          <a:stretch>
            <a:fillRect/>
          </a:stretch>
        </p:blipFill>
        <p:spPr>
          <a:xfrm>
            <a:off x="1136984" y="2261936"/>
            <a:ext cx="3983256" cy="1934677"/>
          </a:xfrm>
          <a:prstGeom prst="rect">
            <a:avLst/>
          </a:prstGeom>
        </p:spPr>
      </p:pic>
      <p:pic>
        <p:nvPicPr>
          <p:cNvPr id="6" name="Image 5"/>
          <p:cNvPicPr>
            <a:picLocks noChangeAspect="1"/>
          </p:cNvPicPr>
          <p:nvPr/>
        </p:nvPicPr>
        <p:blipFill>
          <a:blip r:embed="rId3"/>
          <a:stretch>
            <a:fillRect/>
          </a:stretch>
        </p:blipFill>
        <p:spPr>
          <a:xfrm>
            <a:off x="5419023" y="2212482"/>
            <a:ext cx="4618070" cy="2033587"/>
          </a:xfrm>
          <a:prstGeom prst="rect">
            <a:avLst/>
          </a:prstGeom>
        </p:spPr>
      </p:pic>
    </p:spTree>
    <p:extLst>
      <p:ext uri="{BB962C8B-B14F-4D97-AF65-F5344CB8AC3E}">
        <p14:creationId xmlns:p14="http://schemas.microsoft.com/office/powerpoint/2010/main" val="15620893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a:bodyPr>
          <a:lstStyle/>
          <a:p>
            <a:pPr>
              <a:buFont typeface="Wingdings" panose="05000000000000000000" pitchFamily="2" charset="2"/>
              <a:buChar char="ü"/>
            </a:pPr>
            <a:r>
              <a:rPr lang="fr-FR" dirty="0" smtClean="0"/>
              <a:t>A l’issue de ces différentes analyses, nous nous sommes rassurés d’avoir choisi, à part le </a:t>
            </a:r>
            <a:r>
              <a:rPr lang="fr-FR" b="1" dirty="0" err="1">
                <a:solidFill>
                  <a:schemeClr val="accent2"/>
                </a:solidFill>
                <a:latin typeface="Bahnschrift Condensed" panose="020B0502040204020203" pitchFamily="34" charset="0"/>
                <a:ea typeface="+mj-ea"/>
                <a:cs typeface="+mj-cs"/>
              </a:rPr>
              <a:t>cholesterol</a:t>
            </a:r>
            <a:r>
              <a:rPr lang="fr-FR" dirty="0" smtClean="0"/>
              <a:t>, de variables pertinentes pour la mise en œuvre de notre idée d’application. </a:t>
            </a:r>
          </a:p>
          <a:p>
            <a:pPr marL="0" indent="0">
              <a:buNone/>
            </a:pPr>
            <a:endParaRPr lang="fr-FR" dirty="0" smtClean="0"/>
          </a:p>
          <a:p>
            <a:pPr>
              <a:buFont typeface="Wingdings" panose="05000000000000000000" pitchFamily="2" charset="2"/>
              <a:buChar char="ü"/>
            </a:pPr>
            <a:r>
              <a:rPr lang="fr-FR" dirty="0" smtClean="0"/>
              <a:t> Pour cela, on propose comme perspective de mettre en place un score basé sur une combinaison des variables : </a:t>
            </a:r>
            <a:r>
              <a:rPr lang="fr-FR" sz="2400" b="1" dirty="0">
                <a:solidFill>
                  <a:schemeClr val="accent2"/>
                </a:solidFill>
                <a:latin typeface="Bahnschrift Condensed" panose="020B0502040204020203" pitchFamily="34" charset="0"/>
                <a:ea typeface="+mj-ea"/>
                <a:cs typeface="+mj-cs"/>
              </a:rPr>
              <a:t>sugars_100g, fat_100g, fat_satured_100g </a:t>
            </a:r>
            <a:r>
              <a:rPr lang="fr-FR" dirty="0"/>
              <a:t>et</a:t>
            </a:r>
            <a:r>
              <a:rPr lang="fr-FR" sz="2400" b="1" dirty="0">
                <a:solidFill>
                  <a:schemeClr val="accent2"/>
                </a:solidFill>
                <a:latin typeface="Bahnschrift Condensed" panose="020B0502040204020203" pitchFamily="34" charset="0"/>
                <a:ea typeface="+mj-ea"/>
                <a:cs typeface="+mj-cs"/>
              </a:rPr>
              <a:t> nutrition_scrore_100g </a:t>
            </a:r>
            <a:r>
              <a:rPr lang="fr-FR" dirty="0" smtClean="0"/>
              <a:t>afin de définir le niveau de risque de diabète lié à la consommation d’un produit. </a:t>
            </a:r>
            <a:endParaRPr lang="fr-FR" dirty="0"/>
          </a:p>
        </p:txBody>
      </p:sp>
      <p:sp>
        <p:nvSpPr>
          <p:cNvPr id="4" name="Titre 1"/>
          <p:cNvSpPr>
            <a:spLocks noGrp="1"/>
          </p:cNvSpPr>
          <p:nvPr>
            <p:ph type="title"/>
          </p:nvPr>
        </p:nvSpPr>
        <p:spPr/>
        <p:txBody>
          <a:bodyPr>
            <a:normAutofit/>
          </a:bodyPr>
          <a:lstStyle/>
          <a:p>
            <a:pPr algn="ctr"/>
            <a:r>
              <a:rPr lang="fr-FR" b="1" dirty="0" smtClean="0">
                <a:solidFill>
                  <a:schemeClr val="accent2"/>
                </a:solidFill>
                <a:latin typeface="Bahnschrift Condensed" panose="020B0502040204020203" pitchFamily="34" charset="0"/>
              </a:rPr>
              <a:t>Conclusion</a:t>
            </a:r>
            <a:endParaRPr lang="fr-FR" sz="1800" dirty="0">
              <a:latin typeface="Bahnschrift Condensed" panose="020B0502040204020203" pitchFamily="34" charset="0"/>
            </a:endParaRPr>
          </a:p>
        </p:txBody>
      </p:sp>
    </p:spTree>
    <p:extLst>
      <p:ext uri="{BB962C8B-B14F-4D97-AF65-F5344CB8AC3E}">
        <p14:creationId xmlns:p14="http://schemas.microsoft.com/office/powerpoint/2010/main" val="264446484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14608</TotalTime>
  <Words>1024</Words>
  <Application>Microsoft Office PowerPoint</Application>
  <PresentationFormat>Grand écran</PresentationFormat>
  <Paragraphs>164</Paragraphs>
  <Slides>22</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22</vt:i4>
      </vt:variant>
    </vt:vector>
  </HeadingPairs>
  <TitlesOfParts>
    <vt:vector size="29" baseType="lpstr">
      <vt:lpstr>Arial</vt:lpstr>
      <vt:lpstr>Bahnschrift Condensed</vt:lpstr>
      <vt:lpstr>Bahnschrift SemiBold</vt:lpstr>
      <vt:lpstr>Calibri</vt:lpstr>
      <vt:lpstr>Calibri Light</vt:lpstr>
      <vt:lpstr>Wingdings</vt:lpstr>
      <vt:lpstr>Thème Office</vt:lpstr>
      <vt:lpstr>Présentation projet III</vt:lpstr>
      <vt:lpstr>Présentation PowerPoint</vt:lpstr>
      <vt:lpstr>Présentation PowerPoint</vt:lpstr>
      <vt:lpstr>Traitements des données </vt:lpstr>
      <vt:lpstr>Traitements des données </vt:lpstr>
      <vt:lpstr>Traitements des données </vt:lpstr>
      <vt:lpstr>Traitements des données  Suppression des valeurs aberrantes</vt:lpstr>
      <vt:lpstr>Traitements des données  Imputation des valeurs manquantes</vt:lpstr>
      <vt:lpstr>Traitements des données  Visualisation des distributions avant et après imputation : cas du sugars_100G</vt:lpstr>
      <vt:lpstr>Analyse des données</vt:lpstr>
      <vt:lpstr>Analyse des données</vt:lpstr>
      <vt:lpstr>Analyse est Univariée</vt:lpstr>
      <vt:lpstr>Analyse est Univariée</vt:lpstr>
      <vt:lpstr>Analyse est Bivariée</vt:lpstr>
      <vt:lpstr>Analyse est Bivariée</vt:lpstr>
      <vt:lpstr>TESTS STATISTICS LIAISON ENTRE CATEGORIAL ET NUMERICAL VARS</vt:lpstr>
      <vt:lpstr>TESTS STATISTICS LIAISON ENTRE NUMERICAL vs NUMERICAL VARS</vt:lpstr>
      <vt:lpstr>TESTS STATISTICS LIAISON ENTRE Categorical vs Categorical VARS</vt:lpstr>
      <vt:lpstr>Analyse multivariée (PCA)</vt:lpstr>
      <vt:lpstr>Analyse multivariée (PCA) Nuage des individus</vt:lpstr>
      <vt:lpstr>Analyse multivariée (PCA) Nuage des variables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projet II</dc:title>
  <dc:creator>El Hadji Diaraff Diégane DIAGNE</dc:creator>
  <cp:lastModifiedBy>El Hadji Diaraff Diégane DIAGNE</cp:lastModifiedBy>
  <cp:revision>67</cp:revision>
  <dcterms:created xsi:type="dcterms:W3CDTF">2022-12-08T08:35:40Z</dcterms:created>
  <dcterms:modified xsi:type="dcterms:W3CDTF">2023-02-09T07:57:54Z</dcterms:modified>
</cp:coreProperties>
</file>